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E7992-A116-E70E-118F-7772D4D7F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4DC90-DF3E-AE8F-6D89-792A19B536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748FE-DAD6-EF7A-E46E-9C17084C8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65F14-9162-04C7-6AAE-8E67F932F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07324-5E90-88A4-6D86-8B1BCAA32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506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091A-A00B-D37D-DD1D-110467C59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0E9A3A-7AEB-3526-E676-55DC15CFB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D4966-91E3-DE6D-FAC9-1BF950AF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14600-66F3-6FE5-23E3-9762811B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627A-47AB-F0C8-62DD-1D3CFEE3E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52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C5FAC-35FB-4B88-8656-7D595035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63F4C-C0B2-A144-DB65-C20B9A1FD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4E4E-F154-98DC-650E-26350FF7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AD949-0BB5-F611-0396-5657A1C2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2C77AF-EB06-24ED-89B0-53DF9CC34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65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04B07-B485-E86D-65AC-A9E894F4B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809319-BA01-4473-2F00-414A0A6A4C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79CF6-EBB3-78C8-4787-E37D6F6A3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9CB4B-559C-5C7C-DE4C-9692C716D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D6D15-BAF5-B273-F90A-3698AE386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07ABE5-BDCC-0FCB-977B-2A5FF5C0B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845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A1579-3929-B973-2C3C-1A12ADBB1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1D89F-6421-D6D1-7079-64E9E933E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1D28D-2C07-764F-16B9-0F64469D0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02DD8B-3CDD-A20F-6D61-ED24430E5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D3B1F-7D7B-5EBD-F790-F4DD787AF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0A6285-A370-BF99-CA33-AA0A8934D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952E7D-86A4-13CA-4766-C0387F9E4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130FC7-220E-447D-DCBA-A51D2CA67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34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797F5-ED68-D6DC-5947-426FE39D4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B6D71-DC60-B678-CFC2-8D1CDDAA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EE422-647E-3B9A-259A-9719A01C8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60C60-B635-C18D-F3D0-67A4FBCD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48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C0A68C-5F85-97D9-07D7-F0C0EFDF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388537-AED2-6ED5-411B-EDCFBD167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D04D5-97DC-67F6-5327-0E50B5112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389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B969-97F5-AD6C-3794-33A7D98E4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CDBAB-5B07-E74A-F66A-F643B5DD9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46C8-A5E7-CA98-6C48-7ABA354365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632F1-6317-6E54-CC81-7ACE9BFE8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936BDE-F14E-D737-8979-B2295A57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92EA3-EBA3-D195-AA10-38B962F0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50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EACA1-CA61-B60D-9135-0A419D91B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E7802-92F6-D8D6-D2F2-9F7BB94A8E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5E5ED5-3C17-58E8-1266-F5B5DA4BF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E05DE-2633-8721-9A8B-731CA056B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4A4E9-F271-2753-F75B-36E97AC53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2B741-23DE-6AD5-6D85-5DBDF79DD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036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40462-7B34-725B-071E-ABE94E459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A2C859-0C9F-D81F-31D3-376FEC045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6A82-378E-2221-122B-F85C73C89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F6CF5-2121-80BF-A3B1-120C7FCC3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D005C-637D-D554-81D9-4C5AC70EA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70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48AA15-985B-D0BE-0D55-151251829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5ADB7-F1A4-48F9-F1F6-F1DF4DAA9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03C09-076C-066C-3957-841B56A0A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71C48-1EB4-DD63-F303-CB968986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FF36-939B-650C-438E-F269AC8A4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6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B081DC-51EC-E751-E94E-BC9861DE2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F4EA2-75C4-04B2-CC2F-91499722E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65BB9-D1F0-4C2F-79B6-9CE0C033A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C4840F-608E-4D8E-AD50-04C1C7392584}" type="datetimeFigureOut">
              <a:rPr lang="en-US" smtClean="0"/>
              <a:t>7/7/2026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E6340-B095-1ED5-D985-1F6D7CEF7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7977E-618E-6399-BA04-A572783A1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FCDBD-39B2-4120-AADA-30F7A5029B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6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3D06C0-EF5D-BEE3-D551-72D27AC581CA}"/>
              </a:ext>
            </a:extLst>
          </p:cNvPr>
          <p:cNvSpPr txBox="1"/>
          <p:nvPr/>
        </p:nvSpPr>
        <p:spPr>
          <a:xfrm>
            <a:off x="3047452" y="3245978"/>
            <a:ext cx="60949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E11502-26FE-EA9C-C285-22CA7799B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46332D0-5D38-CEC9-96A0-0530D124DEF6}"/>
              </a:ext>
            </a:extLst>
          </p:cNvPr>
          <p:cNvSpPr txBox="1"/>
          <p:nvPr/>
        </p:nvSpPr>
        <p:spPr>
          <a:xfrm>
            <a:off x="7736219" y="1427517"/>
            <a:ext cx="37562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3600" b="1" dirty="0"/>
              <a:t>نقشه راه توسعه ی فنی روانصد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70433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A227F-2A5E-3407-F4D3-F0D4074C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محوریت اصلی توسعه ی روانصد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E784C9-544F-78EE-7A95-7EC3B9FD6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1622" y="1838783"/>
            <a:ext cx="10529304" cy="46539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2856C1-DED8-A4A6-7E96-0F20CA5F30B7}"/>
              </a:ext>
            </a:extLst>
          </p:cNvPr>
          <p:cNvSpPr txBox="1"/>
          <p:nvPr/>
        </p:nvSpPr>
        <p:spPr>
          <a:xfrm>
            <a:off x="1447252" y="4177294"/>
            <a:ext cx="19735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cs typeface="B Nazanin" panose="00000400000000000000" pitchFamily="2" charset="-78"/>
              </a:rPr>
              <a:t>ذخیره سازی مکالمه ی کاربر ، پاسخ هوش مصنوعی  ، همینطور یادداشت جلسه ی دکتر ، مکالمات پیش مشاوره ، تحلیل و خروجی ایجنت ها و ... ، نیازمند دیتابیس دیزاین اولیه 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F9C0C6-33F6-FE82-7A5B-3D4FA0D48DCC}"/>
              </a:ext>
            </a:extLst>
          </p:cNvPr>
          <p:cNvSpPr txBox="1"/>
          <p:nvPr/>
        </p:nvSpPr>
        <p:spPr>
          <a:xfrm>
            <a:off x="3928412" y="4112606"/>
            <a:ext cx="20447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cs typeface="B Nazanin" panose="00000400000000000000" pitchFamily="2" charset="-78"/>
              </a:rPr>
              <a:t>تمامی مکالمات کاربر ، تحلیل های هوش مصنوعی ، یادداشت جلسات مشاور ، مکالمات پیش مشاوره ، باید بصورت رمزنگاری شده ذخیره شده باشد و فقط مشاور امکان دسترسی به آن را داشته باشد ، حتی ادمین دیتا بیس خودمان هم خیر </a:t>
            </a:r>
            <a:r>
              <a:rPr lang="fa-IR" sz="900" dirty="0">
                <a:cs typeface="B Nazanin" panose="00000400000000000000" pitchFamily="2" charset="-78"/>
              </a:rPr>
              <a:t>(نیازمند بررسی )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9C2A8D-E7A3-ED03-1836-D72B9F79C6F8}"/>
              </a:ext>
            </a:extLst>
          </p:cNvPr>
          <p:cNvSpPr txBox="1"/>
          <p:nvPr/>
        </p:nvSpPr>
        <p:spPr>
          <a:xfrm>
            <a:off x="6402993" y="4054497"/>
            <a:ext cx="20447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cs typeface="B Nazanin" panose="00000400000000000000" pitchFamily="2" charset="-78"/>
              </a:rPr>
              <a:t>ما بالای 5 ایجنت هوش مصنوعی داریم که همه خروجی بصورت </a:t>
            </a:r>
            <a:r>
              <a:rPr lang="en-US" sz="1400" dirty="0">
                <a:cs typeface="B Nazanin" panose="00000400000000000000" pitchFamily="2" charset="-78"/>
              </a:rPr>
              <a:t>json</a:t>
            </a:r>
            <a:r>
              <a:rPr lang="fa-IR" sz="1400" dirty="0">
                <a:cs typeface="B Nazanin" panose="00000400000000000000" pitchFamily="2" charset="-78"/>
              </a:rPr>
              <a:t> ارائه می دهند ، نیازمند یک </a:t>
            </a:r>
            <a:r>
              <a:rPr lang="en-US" sz="1400" dirty="0">
                <a:cs typeface="B Nazanin" panose="00000400000000000000" pitchFamily="2" charset="-78"/>
              </a:rPr>
              <a:t>worfklow</a:t>
            </a:r>
            <a:r>
              <a:rPr lang="fa-IR" sz="1400" dirty="0">
                <a:cs typeface="B Nazanin" panose="00000400000000000000" pitchFamily="2" charset="-78"/>
              </a:rPr>
              <a:t> هوشمند می باشیم که وقتی مکالمات کاربر مثلا به 20 هزار توکن در دیتابیس رسید ، ایجنت خلاصه ساز ، و ایجنت های تحلیل گر بصورت اتومات ران شوند</a:t>
            </a:r>
            <a:endParaRPr lang="en-US" sz="1400" dirty="0">
              <a:cs typeface="B Nazanin" panose="00000400000000000000" pitchFamily="2" charset="-7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2F44B0-B534-E7FB-2C27-0AEF60643981}"/>
              </a:ext>
            </a:extLst>
          </p:cNvPr>
          <p:cNvSpPr txBox="1"/>
          <p:nvPr/>
        </p:nvSpPr>
        <p:spPr>
          <a:xfrm>
            <a:off x="8923623" y="4062172"/>
            <a:ext cx="20447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400" dirty="0">
                <a:cs typeface="B Nazanin" panose="00000400000000000000" pitchFamily="2" charset="-78"/>
              </a:rPr>
              <a:t>ما باید دسترسی های مختلف را تعریف کنیم ، که کاربر جدید فقط به ربات پیش مشاوره و کاربر قبلی به ربات چت بات اصلی ، دکتر به اسناد ، تحلیل ها و مکالمات ، و منشی فقط به نوبت های آزاد ، و وضعیت روحی کلی کاربر دسترسی داشته باشد</a:t>
            </a:r>
            <a:endParaRPr lang="en-US" sz="1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6079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E89DD-EE90-CEB0-82DB-06640C78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نیازمندی های سطوح دسترسی </a:t>
            </a:r>
            <a:endParaRPr lang="en-US" dirty="0">
              <a:cs typeface="B Titr" panose="00000700000000000000" pitchFamily="2" charset="-78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E8B6135-AB9C-4A0E-6902-46218E7CF045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0275486" y="3690492"/>
            <a:ext cx="725820" cy="3026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249AEA1-3465-1DBE-36CF-A3779292F129}"/>
              </a:ext>
            </a:extLst>
          </p:cNvPr>
          <p:cNvSpPr/>
          <p:nvPr/>
        </p:nvSpPr>
        <p:spPr>
          <a:xfrm>
            <a:off x="11001306" y="3289209"/>
            <a:ext cx="1085439" cy="802566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sz="1100" dirty="0"/>
              <a:t>فقط دسترسی موضوع پیش مشاوره 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80BDEC4-302C-28ED-500C-C217328DB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7" y="1737105"/>
            <a:ext cx="10279873" cy="490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12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A345-7E5C-7276-3C7B-5CB65346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سطوح دسترسی منشی 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5EE1C9-E9C0-E452-D93C-6B79D17BC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5085" y="1825624"/>
            <a:ext cx="8994165" cy="489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45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6587E-006C-7AC1-51D8-CB4496E00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سطح دسترسی کاربر جدید ویزیت نشده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782100-E921-C99A-5766-24F887E21B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8685" y="1838782"/>
            <a:ext cx="79425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24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9CFF-64CB-245E-9DAD-20CCE240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رویکرد در صورت اتمام حجم مصرفی مراجع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A984323-58C3-AF2E-80FF-3843E54E1C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9377" y="1569067"/>
            <a:ext cx="9015806" cy="493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376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CB2E1-222D-18CD-5446-6CF5B37A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شرط اجرا شدن 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b="1" dirty="0">
                <a:cs typeface="B Titr" panose="00000700000000000000" pitchFamily="2" charset="-78"/>
              </a:rPr>
              <a:t>agent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fa-IR" dirty="0">
                <a:cs typeface="B Titr" panose="00000700000000000000" pitchFamily="2" charset="-78"/>
              </a:rPr>
              <a:t>های ما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77EF21-240E-9DC4-04AC-DDDB3CC1B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6575" y="1753262"/>
            <a:ext cx="8740845" cy="477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135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502E5-F424-9D39-4654-AAAC676BE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2941"/>
          </a:xfrm>
        </p:spPr>
        <p:txBody>
          <a:bodyPr/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نمونه 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en-US" b="1" dirty="0">
                <a:cs typeface="B Titr" panose="00000700000000000000" pitchFamily="2" charset="-78"/>
              </a:rPr>
              <a:t>workflow agent </a:t>
            </a:r>
            <a:r>
              <a:rPr lang="fa-IR" dirty="0">
                <a:cs typeface="B Titr" panose="00000700000000000000" pitchFamily="2" charset="-78"/>
              </a:rPr>
              <a:t>ها 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A19A2B-E930-D5E8-18C2-3B075B0CA0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6949" y="1266459"/>
            <a:ext cx="8974691" cy="48777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CE46A7-27BD-40EB-195E-38776267C274}"/>
              </a:ext>
            </a:extLst>
          </p:cNvPr>
          <p:cNvSpPr txBox="1"/>
          <p:nvPr/>
        </p:nvSpPr>
        <p:spPr>
          <a:xfrm>
            <a:off x="1618291" y="6269232"/>
            <a:ext cx="94663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1200" dirty="0"/>
              <a:t>توضیح : بعد از اینکه دستور اجرای </a:t>
            </a:r>
            <a:r>
              <a:rPr lang="en-US" sz="1200" dirty="0"/>
              <a:t>agent</a:t>
            </a:r>
            <a:r>
              <a:rPr lang="fa-IR" sz="1200" dirty="0"/>
              <a:t> ها انجام شد ، هر کدام ایجنت ها بصورتی سریالی اجرا می شوند ، خروجی هر </a:t>
            </a:r>
            <a:r>
              <a:rPr lang="en-US" sz="1200" dirty="0"/>
              <a:t>agent </a:t>
            </a:r>
            <a:r>
              <a:rPr lang="fa-IR" sz="1200" dirty="0"/>
              <a:t> می بایست بصورت </a:t>
            </a:r>
            <a:r>
              <a:rPr lang="en-US" sz="1200" dirty="0"/>
              <a:t>json</a:t>
            </a:r>
            <a:r>
              <a:rPr lang="fa-IR" sz="1200" dirty="0"/>
              <a:t> در دیتابیس ذخیره بشود ، همینطور خروجی </a:t>
            </a:r>
            <a:r>
              <a:rPr lang="en-US" sz="1200" dirty="0"/>
              <a:t>meta analist</a:t>
            </a:r>
            <a:r>
              <a:rPr lang="fa-IR" sz="1200" dirty="0"/>
              <a:t> که خلاصه ی بالینی از تمام تحلیل ها می باشد ، تمامی این جیسون ها بصورت خروجی در اختیارتیم  </a:t>
            </a:r>
            <a:r>
              <a:rPr lang="en-US" sz="1200" dirty="0"/>
              <a:t>backend</a:t>
            </a:r>
            <a:r>
              <a:rPr lang="fa-IR" sz="1200" dirty="0"/>
              <a:t> قرار می گیرد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97000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5FB3-3B5E-9FC4-B2AA-7BFAFF35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رویکرد در زمان قطعی اینترنت یا کاهش مصرف توکن  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756CC6-830F-82C3-E300-E5A42A030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271" y="1786153"/>
            <a:ext cx="8980299" cy="4825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79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E1CD-1BD6-3EA4-9E48-D276EB8F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10" y="3160953"/>
            <a:ext cx="10515600" cy="1325563"/>
          </a:xfrm>
        </p:spPr>
        <p:txBody>
          <a:bodyPr/>
          <a:lstStyle/>
          <a:p>
            <a:pPr algn="ctr" rtl="1"/>
            <a:r>
              <a:rPr lang="fa-IR" dirty="0">
                <a:cs typeface="B Titr" panose="00000700000000000000" pitchFamily="2" charset="-78"/>
              </a:rPr>
              <a:t>جزئیات</a:t>
            </a:r>
            <a:r>
              <a:rPr lang="en-US" b="1" dirty="0">
                <a:cs typeface="B Titr" panose="00000700000000000000" pitchFamily="2" charset="-78"/>
              </a:rPr>
              <a:t>task</a:t>
            </a:r>
            <a:r>
              <a:rPr lang="en-US" dirty="0">
                <a:cs typeface="B Titr" panose="00000700000000000000" pitchFamily="2" charset="-78"/>
              </a:rPr>
              <a:t> </a:t>
            </a:r>
            <a:r>
              <a:rPr lang="fa-IR" dirty="0">
                <a:cs typeface="B Titr" panose="00000700000000000000" pitchFamily="2" charset="-78"/>
              </a:rPr>
              <a:t> ها </a:t>
            </a:r>
            <a:endParaRPr lang="en-US" dirty="0">
              <a:cs typeface="B Titr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6046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DB1CD-BD09-A288-11D3-5292E425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‍۱) تصمیم گیری در مورد </a:t>
            </a:r>
            <a:r>
              <a:rPr lang="en-US" dirty="0">
                <a:cs typeface="B Titr" panose="00000700000000000000" pitchFamily="2" charset="-78"/>
              </a:rPr>
              <a:t>UI ,UX</a:t>
            </a:r>
            <a:r>
              <a:rPr lang="fa-IR" dirty="0">
                <a:cs typeface="B Titr" panose="00000700000000000000" pitchFamily="2" charset="-78"/>
              </a:rPr>
              <a:t> و هویت بصری برند</a:t>
            </a:r>
            <a:endParaRPr lang="en-US" dirty="0">
              <a:cs typeface="B Titr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F2109A-DD50-5BF1-8007-DD6814D37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467" y="1496703"/>
            <a:ext cx="4504317" cy="29831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D21B90-8FAC-F748-530B-AA9FCB692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324" y="4631103"/>
            <a:ext cx="4296769" cy="2226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E54973-F0EA-E823-C795-E0263FF83E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106" y="2012996"/>
            <a:ext cx="6677534" cy="43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119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22D79-87AA-6CFF-86E7-892B8B072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06BDA-E18F-C324-A89B-BAD3A03E2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‍2) پیاده سازی فرایند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7B6FEA-8525-7E2D-891E-1CBEFC9DE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731" y="1792731"/>
            <a:ext cx="6669822" cy="44172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487ADD-DE3D-191E-5EE4-6D9F820A07B3}"/>
              </a:ext>
            </a:extLst>
          </p:cNvPr>
          <p:cNvSpPr txBox="1"/>
          <p:nvPr/>
        </p:nvSpPr>
        <p:spPr>
          <a:xfrm>
            <a:off x="7163896" y="2394543"/>
            <a:ext cx="46246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dirty="0">
                <a:cs typeface="B Nazanin" panose="00000400000000000000" pitchFamily="2" charset="-78"/>
              </a:rPr>
              <a:t>تیم ما باید برای هر گروه از کاربران، مسیر ورود و سطح دسترسی مخصوص همان گروه طراحی کند: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>
                <a:cs typeface="B Nazanin" panose="00000400000000000000" pitchFamily="2" charset="-78"/>
              </a:rPr>
              <a:t>کاربران تازه‌وارد که از طریق جست‌وجو یا معرفی دوستان به وب‌سایت ما رسیده‌اند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>
                <a:cs typeface="B Nazanin" panose="00000400000000000000" pitchFamily="2" charset="-78"/>
              </a:rPr>
              <a:t>مراجعانی که توسط درمانگر به پلتفرم ارجاع شده‌اند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>
                <a:cs typeface="B Nazanin" panose="00000400000000000000" pitchFamily="2" charset="-78"/>
              </a:rPr>
              <a:t>منشی کلینیک که برای هر پزشک ثبت‌نام می‌کند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dirty="0">
                <a:cs typeface="B Nazanin" panose="00000400000000000000" pitchFamily="2" charset="-78"/>
              </a:rPr>
              <a:t>درمانگران که خودشان در پلتفرم ثبت‌نام می‌کنند</a:t>
            </a:r>
          </a:p>
          <a:p>
            <a:pPr algn="r" rtl="1"/>
            <a:endParaRPr lang="en-US" dirty="0">
              <a:cs typeface="B Nazanin" panose="00000400000000000000" pitchFamily="2" charset="-78"/>
            </a:endParaRPr>
          </a:p>
          <a:p>
            <a:pPr algn="r" rtl="1"/>
            <a:r>
              <a:rPr lang="en-US" dirty="0">
                <a:cs typeface="B Nazanin" panose="00000400000000000000" pitchFamily="2" charset="-78"/>
              </a:rPr>
              <a:t>هر کدام از این مسیرها باید تجربه ورود و دسترسی متفاوتی داشته باشد.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5F15B3-2D07-7F8E-553B-542E1FD69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03889"/>
            <a:ext cx="3255697" cy="5800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54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7F5DB-8B48-CF06-93B7-D8F285A0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8BD0-7CA1-5D3D-3AAA-D18F3625E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356" y="246714"/>
            <a:ext cx="10515600" cy="766363"/>
          </a:xfrm>
        </p:spPr>
        <p:txBody>
          <a:bodyPr>
            <a:normAutofit fontScale="90000"/>
          </a:bodyPr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‍3) نحوه ی ذخیره سازی و مدیریت اطلاعات چت کاربر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B56A1E-C21E-D8AD-18BB-0185DFB6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11" y="980183"/>
            <a:ext cx="5565340" cy="57595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5FD239-A897-B59E-FA7C-6142C138EDFA}"/>
              </a:ext>
            </a:extLst>
          </p:cNvPr>
          <p:cNvSpPr txBox="1"/>
          <p:nvPr/>
        </p:nvSpPr>
        <p:spPr>
          <a:xfrm>
            <a:off x="6637622" y="1624869"/>
            <a:ext cx="528247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buAutoNum type="arabicPeriod"/>
            </a:pPr>
            <a:r>
              <a:rPr lang="en-US" sz="1400" dirty="0">
                <a:cs typeface="B Nazanin" panose="00000400000000000000" pitchFamily="2" charset="-78"/>
              </a:rPr>
              <a:t>ذخیره‌سازی و ردیابی داده‌های گفتگو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سیستم باید تمام اجزای هر تعامل را به‌صورت ساختاریافته ذخیره کند، از جمله: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cs typeface="B Nazanin" panose="00000400000000000000" pitchFamily="2" charset="-78"/>
              </a:rPr>
              <a:t>پیام‌های کاربر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cs typeface="B Nazanin" panose="00000400000000000000" pitchFamily="2" charset="-78"/>
              </a:rPr>
              <a:t>پیام‌های سیستم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cs typeface="B Nazanin" panose="00000400000000000000" pitchFamily="2" charset="-78"/>
              </a:rPr>
              <a:t>پیام‌های استدلال (Reasoning)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cs typeface="B Nazanin" panose="00000400000000000000" pitchFamily="2" charset="-78"/>
              </a:rPr>
              <a:t>میزان مصرف توکن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cs typeface="B Nazanin" panose="00000400000000000000" pitchFamily="2" charset="-78"/>
              </a:rPr>
              <a:t>زمان وقوع هر رویداد و سایر متادیتای مرتبط</a:t>
            </a:r>
          </a:p>
          <a:p>
            <a:pPr algn="just" rtl="1"/>
            <a:endParaRPr lang="en-US" sz="1400" dirty="0">
              <a:cs typeface="B Nazanin" panose="00000400000000000000" pitchFamily="2" charset="-78"/>
            </a:endParaRP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۲. مدیریت سقف مصرف مجاز</a:t>
            </a:r>
          </a:p>
          <a:p>
            <a:pPr marL="285750" indent="-285750" algn="just" rtl="1">
              <a:buFont typeface="Arial" panose="020B0604020202020204" pitchFamily="34" charset="0"/>
              <a:buChar char="•"/>
            </a:pPr>
            <a:r>
              <a:rPr lang="en-US" sz="1400" dirty="0">
                <a:cs typeface="B Nazanin" panose="00000400000000000000" pitchFamily="2" charset="-78"/>
              </a:rPr>
              <a:t>برای هر کاربر سقف مصرف تعریف می‌شود بر اساس توکن، سیستم باید مصرف جاری را نسبت به این سقف پایش کند و </a:t>
            </a:r>
            <a:r>
              <a:rPr lang="fa-IR" sz="1400" dirty="0">
                <a:cs typeface="B Nazanin" panose="00000400000000000000" pitchFamily="2" charset="-78"/>
              </a:rPr>
              <a:t>هنگام نزدیک شدن به پایان حجم مصرفی کاربر را تشویق به رفتن پیش مراجع یا ترغیب به پرداخت هزینه جهت ادامه ی گفت و گو کند .</a:t>
            </a:r>
          </a:p>
          <a:p>
            <a:pPr algn="just" rtl="1"/>
            <a:endParaRPr lang="en-US" sz="1400" dirty="0">
              <a:cs typeface="B Nazanin" panose="00000400000000000000" pitchFamily="2" charset="-78"/>
            </a:endParaRP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۴. خلاصه‌سازی خودکار در آستانه حجم توکن</a:t>
            </a:r>
          </a:p>
          <a:p>
            <a:pPr algn="just" rtl="1"/>
            <a:r>
              <a:rPr lang="fa-IR" sz="1400" dirty="0">
                <a:cs typeface="B Nazanin" panose="00000400000000000000" pitchFamily="2" charset="-78"/>
              </a:rPr>
              <a:t>هنگام مکالمه </a:t>
            </a:r>
            <a:r>
              <a:rPr lang="en-US" sz="1400" dirty="0">
                <a:cs typeface="B Nazanin" panose="00000400000000000000" pitchFamily="2" charset="-78"/>
              </a:rPr>
              <a:t>اگر حجم توکن مکالمه به آستانه از پیش‌تعریف‌شده برسد، ایجنت </a:t>
            </a:r>
            <a:r>
              <a:rPr lang="en-US" sz="1400" b="1" dirty="0">
                <a:cs typeface="B Nazanin" panose="00000400000000000000" pitchFamily="2" charset="-78"/>
              </a:rPr>
              <a:t>خلاصه‌ساز مکالمه</a:t>
            </a:r>
            <a:r>
              <a:rPr lang="en-US" sz="1400" dirty="0">
                <a:cs typeface="B Nazanin" panose="00000400000000000000" pitchFamily="2" charset="-78"/>
              </a:rPr>
              <a:t> به‌صورت خودکار فعال می‌شود تا تاریخچه فشرده شود، مصرف بعدی کاهش یابد و جریان گفتگو بدون از دست رفتن بافت بالینی ادامه پیدا کند.</a:t>
            </a:r>
            <a:endParaRPr lang="fa-IR" sz="1400" dirty="0">
              <a:cs typeface="B Nazanin" panose="00000400000000000000" pitchFamily="2" charset="-78"/>
            </a:endParaRPr>
          </a:p>
          <a:p>
            <a:pPr algn="just" rtl="1"/>
            <a:endParaRPr lang="fa-IR" sz="1400" dirty="0">
              <a:cs typeface="B Nazanin" panose="00000400000000000000" pitchFamily="2" charset="-78"/>
            </a:endParaRPr>
          </a:p>
          <a:p>
            <a:pPr algn="just" rtl="1"/>
            <a:r>
              <a:rPr lang="fa-IR" sz="1400" dirty="0">
                <a:cs typeface="B Nazanin" panose="00000400000000000000" pitchFamily="2" charset="-78"/>
              </a:rPr>
              <a:t>5. باید یک پایگاه داده ی جدا جهت ذخیره کل مکالمات بصورت امن داشته باشیم تا بتوانیم مدل جدیدی در آینده </a:t>
            </a:r>
            <a:r>
              <a:rPr lang="en-US" sz="1400" dirty="0">
                <a:cs typeface="B Nazanin" panose="00000400000000000000" pitchFamily="2" charset="-78"/>
              </a:rPr>
              <a:t>fine tune</a:t>
            </a:r>
            <a:r>
              <a:rPr lang="fa-IR" sz="1400" dirty="0">
                <a:cs typeface="B Nazanin" panose="00000400000000000000" pitchFamily="2" charset="-78"/>
              </a:rPr>
              <a:t> کنیم ، ولی مکالمات قدیمی را از داخل </a:t>
            </a:r>
            <a:r>
              <a:rPr lang="en-US" sz="1400" dirty="0">
                <a:cs typeface="B Nazanin" panose="00000400000000000000" pitchFamily="2" charset="-78"/>
              </a:rPr>
              <a:t>database</a:t>
            </a:r>
            <a:r>
              <a:rPr lang="fa-IR" sz="1400" dirty="0">
                <a:cs typeface="B Nazanin" panose="00000400000000000000" pitchFamily="2" charset="-78"/>
              </a:rPr>
              <a:t> پاک کنیم (مشکل حریم خصوصی باید بررسی شود ) می توانیم با گرفتن اجازه از کاربر و دادن تخفیف مواردی حقوقی این مورد را دور بزنیم </a:t>
            </a:r>
            <a:endParaRPr lang="en-US" sz="14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40551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F912D-40C4-50EB-CB62-9A4474A6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66279-C381-37AC-F875-377EC5FBC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356" y="246714"/>
            <a:ext cx="10515600" cy="766363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‍4) نحوه ی کارکرد پنل درمانگر و لیست مراجعین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387B3D-DAA0-1278-42E5-94564B0ABB94}"/>
              </a:ext>
            </a:extLst>
          </p:cNvPr>
          <p:cNvSpPr txBox="1"/>
          <p:nvPr/>
        </p:nvSpPr>
        <p:spPr>
          <a:xfrm>
            <a:off x="6637622" y="1624869"/>
            <a:ext cx="528247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اطلاعات کاربر (User Profile)، شامل خلاصه وضعیت بالینی، امتیازهای تجمیعی Agent</a:t>
            </a:r>
            <a:r>
              <a:rPr lang="fa-IR" sz="1400" dirty="0">
                <a:cs typeface="B Nazanin" panose="00000400000000000000" pitchFamily="2" charset="-78"/>
              </a:rPr>
              <a:t> ها </a:t>
            </a:r>
            <a:r>
              <a:rPr lang="en-US" sz="1400" dirty="0">
                <a:cs typeface="B Nazanin" panose="00000400000000000000" pitchFamily="2" charset="-78"/>
              </a:rPr>
              <a:t>، وضعیت روحی، اختلالات احتمالی، طرحواره‌ها و سایر شاخص‌های تحلیلی، باید به‌صورت ساخت‌یافته و قابل فیلترسازی هوشمند طراحی شود. این ساختار باید امکان جست‌وجو، دسته‌بندی و استفاده در بخش‌های مختلف سیستم به‌ویژه داشبورد درمانگر</a:t>
            </a:r>
            <a:r>
              <a:rPr lang="fa-IR" sz="1400" dirty="0">
                <a:cs typeface="B Nazanin" panose="00000400000000000000" pitchFamily="2" charset="-78"/>
              </a:rPr>
              <a:t> </a:t>
            </a:r>
            <a:r>
              <a:rPr lang="en-US" sz="1400" dirty="0">
                <a:cs typeface="B Nazanin" panose="00000400000000000000" pitchFamily="2" charset="-78"/>
              </a:rPr>
              <a:t>را فراهم کند.</a:t>
            </a:r>
            <a:endParaRPr lang="fa-IR" sz="1400" dirty="0">
              <a:cs typeface="B Nazanin" panose="00000400000000000000" pitchFamily="2" charset="-78"/>
            </a:endParaRPr>
          </a:p>
          <a:p>
            <a:pPr algn="just" rtl="1"/>
            <a:endParaRPr lang="en-US" sz="1400" dirty="0">
              <a:cs typeface="B Nazanin" panose="00000400000000000000" pitchFamily="2" charset="-78"/>
            </a:endParaRP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این داده‌ها نیازمند یکپارچگی کامل بین Frontend </a:t>
            </a:r>
            <a:r>
              <a:rPr lang="fa-IR" sz="1400" dirty="0">
                <a:cs typeface="B Nazanin" panose="00000400000000000000" pitchFamily="2" charset="-78"/>
              </a:rPr>
              <a:t> و </a:t>
            </a:r>
            <a:r>
              <a:rPr lang="en-US" sz="1400" dirty="0">
                <a:cs typeface="B Nazanin" panose="00000400000000000000" pitchFamily="2" charset="-78"/>
              </a:rPr>
              <a:t>Backend </a:t>
            </a:r>
            <a:r>
              <a:rPr lang="fa-IR" sz="1400" dirty="0">
                <a:cs typeface="B Nazanin" panose="00000400000000000000" pitchFamily="2" charset="-78"/>
              </a:rPr>
              <a:t> هستند </a:t>
            </a:r>
            <a:r>
              <a:rPr lang="en-US" sz="1400" dirty="0">
                <a:cs typeface="B Nazanin" panose="00000400000000000000" pitchFamily="2" charset="-78"/>
              </a:rPr>
              <a:t>تا همگام‌سازی و نمایش آن‌ها به‌درستی انجام شود. اطلاعات داشبورد باید به‌صورت دوره‌ای و حداقل هر ۲۴ ساعت یک‌بار به‌روزرسانی شوند.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در بخش داشبورد درمانگر، امکان دسترسی به پروفایل کامل هر کاربر وجود دارد. درمانگر می‌تواند: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محتوای پروفایل و تاریخچه مکالمات کاربر با چت‌بات را مشاهده کند 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بازخورد ثبت کند 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در صورت نیاز، تحلیل Agent</a:t>
            </a:r>
            <a:r>
              <a:rPr lang="fa-IR" sz="1400" dirty="0">
                <a:cs typeface="B Nazanin" panose="00000400000000000000" pitchFamily="2" charset="-78"/>
              </a:rPr>
              <a:t> ها</a:t>
            </a:r>
            <a:r>
              <a:rPr lang="en-US" sz="1400" dirty="0">
                <a:cs typeface="B Nazanin" panose="00000400000000000000" pitchFamily="2" charset="-78"/>
              </a:rPr>
              <a:t> را به‌صورت دستی اجرا یا بازاجرایی کند در صورتی که قبلاً به‌صورت خودکار اجرا نشده باشد) تا به آخرین نتایج یا تحلیل‌های به‌روز دسترسی پیدا کند 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همچنین سیستم باید قابلیت ارائه آمار تجمیعی و دقیق را داشته باشد، از جمله: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تعداد کل کاربران 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توزیع امتیازها 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میانگین‌گیری از شاخص‌های مختلف 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سایر متریک‌های تحلیلی مرتبط با عملکرد Agent</a:t>
            </a:r>
            <a:r>
              <a:rPr lang="fa-IR" sz="1400" dirty="0">
                <a:cs typeface="B Nazanin" panose="00000400000000000000" pitchFamily="2" charset="-78"/>
              </a:rPr>
              <a:t> ها </a:t>
            </a:r>
            <a:r>
              <a:rPr lang="en-US" sz="1400" dirty="0">
                <a:cs typeface="B Nazanin" panose="00000400000000000000" pitchFamily="2" charset="-78"/>
              </a:rPr>
              <a:t>و وضعیت کاربران </a:t>
            </a:r>
          </a:p>
          <a:p>
            <a:pPr algn="just" rtl="1"/>
            <a:r>
              <a:rPr lang="en-US" sz="1400" dirty="0">
                <a:cs typeface="B Nazanin" panose="00000400000000000000" pitchFamily="2" charset="-78"/>
              </a:rPr>
              <a:t>این بخش آماری باید به‌گونه‌ای طراحی شود که هم در سطح کلان (Global Analytics) و هم در سطح فردی (Per-user Analytics) قابل استفاده و توسعه باشد.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0F340E-3438-B0AE-F641-A9B57F8F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75" y="1295949"/>
            <a:ext cx="4797047" cy="37464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981D84-97A7-25CB-9517-DC4E47814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557" y="5088544"/>
            <a:ext cx="6046871" cy="1700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04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FF1D9-4A5B-A1B7-D041-457D2F6CF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FDA68-155F-01B9-5617-C119B4244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356" y="246714"/>
            <a:ext cx="10515600" cy="766363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‍5) پیاده سازی مدیریت کلینیک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738768-A755-321C-E05B-D8D27D092FE3}"/>
              </a:ext>
            </a:extLst>
          </p:cNvPr>
          <p:cNvSpPr txBox="1"/>
          <p:nvPr/>
        </p:nvSpPr>
        <p:spPr>
          <a:xfrm>
            <a:off x="6709983" y="955504"/>
            <a:ext cx="528247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1200" b="1" dirty="0">
                <a:cs typeface="B Nazanin" panose="00000400000000000000" pitchFamily="2" charset="-78"/>
              </a:rPr>
              <a:t>سیستم مدیریت کلینیک و نوبت‌دهی یکپارچه</a:t>
            </a:r>
          </a:p>
          <a:p>
            <a:pPr algn="r" rtl="1"/>
            <a:r>
              <a:rPr lang="en-US" sz="1200" dirty="0">
                <a:cs typeface="B Nazanin" panose="00000400000000000000" pitchFamily="2" charset="-78"/>
              </a:rPr>
              <a:t>در این سیستم، یک ماژول جامع مدیریت کلینیک و نوبت‌دهی طراحی و پیاده‌سازی می‌شود که امکان مدیریت منابع انسانی پزشکان </a:t>
            </a:r>
            <a:r>
              <a:rPr lang="fa-IR" sz="1200" dirty="0">
                <a:cs typeface="B Nazanin" panose="00000400000000000000" pitchFamily="2" charset="-78"/>
              </a:rPr>
              <a:t>، اتاق ها ،</a:t>
            </a:r>
            <a:r>
              <a:rPr lang="en-US" sz="1200" dirty="0">
                <a:cs typeface="B Nazanin" panose="00000400000000000000" pitchFamily="2" charset="-78"/>
              </a:rPr>
              <a:t>و مراجعین را به‌صورت یکپارچه فراهم می‌کند.</a:t>
            </a:r>
            <a:endParaRPr lang="fa-IR" sz="1200" dirty="0">
              <a:cs typeface="B Nazanin" panose="00000400000000000000" pitchFamily="2" charset="-78"/>
            </a:endParaRPr>
          </a:p>
          <a:p>
            <a:pPr algn="r" rtl="1"/>
            <a:endParaRPr lang="en-US" sz="1200" dirty="0">
              <a:cs typeface="B Nazanin" panose="00000400000000000000" pitchFamily="2" charset="-78"/>
            </a:endParaRPr>
          </a:p>
          <a:p>
            <a:pPr algn="r" rtl="1"/>
            <a:r>
              <a:rPr lang="en-US" sz="1200" b="1" dirty="0">
                <a:cs typeface="B Nazanin" panose="00000400000000000000" pitchFamily="2" charset="-78"/>
              </a:rPr>
              <a:t>سیستم نوبت‌دهی (Appointment System)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سیستم نوبت‌دهی باید توسط منشی مدیریت شود و شامل قابلیت‌های زیر باشد: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تعریف و تنظیم برنامه زمانی پزشکان </a:t>
            </a:r>
            <a:endParaRPr lang="fa-IR" sz="12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تخصیص و مدیریت اتاق‌ها برای هر بازه زمانی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نمایش تقویم زمان‌های خالی و قابل رزرو برای پزشکان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جلوگیری از تداخل نوبت‌ها و مدیریت ظرفیت زمانی </a:t>
            </a:r>
            <a:endParaRPr lang="fa-IR" sz="1200" dirty="0">
              <a:cs typeface="B Nazanin" panose="00000400000000000000" pitchFamily="2" charset="-78"/>
            </a:endParaRPr>
          </a:p>
          <a:p>
            <a:pPr algn="r" rtl="1"/>
            <a:endParaRPr lang="fa-IR" sz="1200" b="1" dirty="0">
              <a:cs typeface="B Nazanin" panose="00000400000000000000" pitchFamily="2" charset="-78"/>
            </a:endParaRPr>
          </a:p>
          <a:p>
            <a:pPr algn="r" rtl="1"/>
            <a:r>
              <a:rPr lang="en-US" sz="1200" b="1" dirty="0">
                <a:cs typeface="B Nazanin" panose="00000400000000000000" pitchFamily="2" charset="-78"/>
              </a:rPr>
              <a:t>نقش منشی (Receptionist Panel)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منشی در سیستم دارای دسترسی محدود و مشخص است و می‌تواند: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لیست نوبت‌ها را مشاهده و مدیریت کند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مراجعین جدید و قدیمی را به‌صورت تفکیک‌شده مشاهده نماید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فقط به اطلاعات پایه‌ای کاربران و زمان نوبت‌ها دسترسی داشته باشد</a:t>
            </a:r>
            <a:endParaRPr lang="fa-IR" sz="1200" dirty="0">
              <a:cs typeface="B Nazanin" panose="00000400000000000000" pitchFamily="2" charset="-78"/>
            </a:endParaRPr>
          </a:p>
          <a:p>
            <a:pPr algn="r" rtl="1"/>
            <a:r>
              <a:rPr lang="en-US" sz="1200" dirty="0">
                <a:cs typeface="B Nazanin" panose="00000400000000000000" pitchFamily="2" charset="-78"/>
              </a:rPr>
              <a:t> </a:t>
            </a:r>
          </a:p>
          <a:p>
            <a:pPr algn="r" rtl="1"/>
            <a:r>
              <a:rPr lang="en-US" sz="1200" b="1" dirty="0">
                <a:cs typeface="B Nazanin" panose="00000400000000000000" pitchFamily="2" charset="-78"/>
              </a:rPr>
              <a:t>نقش پزشک (Doctor Panel)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پزشک علاوه بر دسترسی به سیستم نوبت‌دهی، دسترسی کامل‌تری به پروفایل مراجعین دارد. با انتخاب هر نوبت، پزشک می‌تواند وارد پروفایل کاربر شود و موارد زیر را مشاهده کند: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پرونده‌های پزشکی مرتبط</a:t>
            </a:r>
            <a:endParaRPr lang="fa-IR" sz="12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یادداشت‌های شخصی ثبت‌شده توسط پزشک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تاریخچه مکالمات کاربر با چت‌بات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تحلیل‌های هوش مصنوعی مربوط به مکالمات و وضعیت کاربر </a:t>
            </a:r>
          </a:p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برای مراجعین جدید، پزشک همچنین به خلاصه و جزئیات مکالمات پیش‌مشاوره دسترسی دارد تا بتواند پیش از جلسه حضوری، آمادگی کامل داشته باشد.</a:t>
            </a:r>
            <a:endParaRPr lang="fa-IR" sz="1200" dirty="0">
              <a:cs typeface="B Nazanin" panose="00000400000000000000" pitchFamily="2" charset="-78"/>
            </a:endParaRPr>
          </a:p>
          <a:p>
            <a:pPr marL="285750" indent="-285750" algn="r" rtl="1">
              <a:buFont typeface="Arial" panose="020B0604020202020204" pitchFamily="34" charset="0"/>
              <a:buChar char="•"/>
            </a:pPr>
            <a:endParaRPr lang="fa-IR" sz="1200" dirty="0">
              <a:cs typeface="B Nazanin" panose="00000400000000000000" pitchFamily="2" charset="-78"/>
            </a:endParaRPr>
          </a:p>
          <a:p>
            <a:pPr algn="r" rtl="1"/>
            <a:r>
              <a:rPr lang="en-US" sz="1200" b="1" dirty="0">
                <a:cs typeface="B Nazanin" panose="00000400000000000000" pitchFamily="2" charset="-78"/>
              </a:rPr>
              <a:t>تقویم کاربر (User-Facing Calendar)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علاوه بر پنل داخلی کلینیک، یک تقویم ساده نیز برای کاربران نهایی ارائه می‌شود که: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صرفاً زمان‌های خالی و قابل رزرو را نمایش می‌دهد </a:t>
            </a:r>
          </a:p>
          <a:p>
            <a:pPr marL="171450" indent="-171450" algn="r" rtl="1">
              <a:buFont typeface="Arial" panose="020B0604020202020204" pitchFamily="34" charset="0"/>
              <a:buChar char="•"/>
            </a:pPr>
            <a:r>
              <a:rPr lang="en-US" sz="1200" dirty="0">
                <a:cs typeface="B Nazanin" panose="00000400000000000000" pitchFamily="2" charset="-78"/>
              </a:rPr>
              <a:t>امکان مشاهده ظرفیت‌ها بدون دسترسی به اطلاعات داخلی کلینیک را فراهم می‌کند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9AF9A-F317-559A-DC7E-3E5E3EE4D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73" y="1519615"/>
            <a:ext cx="5990366" cy="487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11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1A775-CE63-562C-1601-C2933A363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BAD1-EFD1-487C-B981-A42B89F3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356" y="246714"/>
            <a:ext cx="10515600" cy="766363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‍6) پرونده ی دیجیتال آنلاین درمانگر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86677-AC49-7EEF-5998-B506C0C86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32" y="1469513"/>
            <a:ext cx="8378060" cy="4987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86792B-5447-A909-0C54-C79549A4A876}"/>
              </a:ext>
            </a:extLst>
          </p:cNvPr>
          <p:cNvSpPr txBox="1"/>
          <p:nvPr/>
        </p:nvSpPr>
        <p:spPr>
          <a:xfrm>
            <a:off x="8861129" y="2736622"/>
            <a:ext cx="307212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600" dirty="0">
                <a:cs typeface="B Nazanin" panose="00000400000000000000" pitchFamily="2" charset="-78"/>
              </a:rPr>
              <a:t>در پرونده ی دیجیتال ، فرم های متعددی وجود دارد ، که این فرم شامل فیلد های رسمی  و موردنیاز هر درمانگر مثل، شکایت اصلی مراجع ، تکالیف و یادداشت های درمانگر می باشد ، درمانگر همچنین می تواند خلاصه جلسه را </a:t>
            </a:r>
            <a:r>
              <a:rPr lang="en-US" sz="1600" dirty="0">
                <a:cs typeface="B Nazanin" panose="00000400000000000000" pitchFamily="2" charset="-78"/>
              </a:rPr>
              <a:t>voice </a:t>
            </a:r>
            <a:r>
              <a:rPr lang="fa-IR" sz="1600" dirty="0">
                <a:cs typeface="B Nazanin" panose="00000400000000000000" pitchFamily="2" charset="-78"/>
              </a:rPr>
              <a:t> گرفته و سپس </a:t>
            </a:r>
            <a:r>
              <a:rPr lang="en-US" sz="1600" dirty="0">
                <a:cs typeface="B Nazanin" panose="00000400000000000000" pitchFamily="2" charset="-78"/>
              </a:rPr>
              <a:t>agent </a:t>
            </a:r>
            <a:r>
              <a:rPr lang="fa-IR" sz="1600" dirty="0">
                <a:cs typeface="B Nazanin" panose="00000400000000000000" pitchFamily="2" charset="-78"/>
              </a:rPr>
              <a:t> هوش مصنوعی ما هر </a:t>
            </a:r>
            <a:r>
              <a:rPr lang="en-US" sz="1600" dirty="0">
                <a:cs typeface="B Nazanin" panose="00000400000000000000" pitchFamily="2" charset="-78"/>
              </a:rPr>
              <a:t>field</a:t>
            </a:r>
            <a:r>
              <a:rPr lang="fa-IR" sz="1600" dirty="0">
                <a:cs typeface="B Nazanin" panose="00000400000000000000" pitchFamily="2" charset="-78"/>
              </a:rPr>
              <a:t> را تشخیص داده و بصورت اتومات این </a:t>
            </a:r>
            <a:r>
              <a:rPr lang="en-US" sz="1600" dirty="0">
                <a:cs typeface="B Nazanin" panose="00000400000000000000" pitchFamily="2" charset="-78"/>
              </a:rPr>
              <a:t>json </a:t>
            </a:r>
            <a:r>
              <a:rPr lang="fa-IR" sz="1600" dirty="0">
                <a:cs typeface="B Nazanin" panose="00000400000000000000" pitchFamily="2" charset="-78"/>
              </a:rPr>
              <a:t> در دیتابیس ذخیره شود و </a:t>
            </a:r>
            <a:r>
              <a:rPr lang="en-US" sz="1600" dirty="0">
                <a:cs typeface="B Nazanin" panose="00000400000000000000" pitchFamily="2" charset="-78"/>
              </a:rPr>
              <a:t>field </a:t>
            </a:r>
            <a:r>
              <a:rPr lang="fa-IR" sz="1600" dirty="0">
                <a:cs typeface="B Nazanin" panose="00000400000000000000" pitchFamily="2" charset="-78"/>
              </a:rPr>
              <a:t> ها بصورت اتومات پر بشوند ، این یادداشت های پزشک بعد توسط یک </a:t>
            </a:r>
            <a:r>
              <a:rPr lang="en-US" sz="1600" dirty="0">
                <a:cs typeface="B Nazanin" panose="00000400000000000000" pitchFamily="2" charset="-78"/>
              </a:rPr>
              <a:t>agent </a:t>
            </a:r>
            <a:r>
              <a:rPr lang="fa-IR" sz="1600" dirty="0">
                <a:cs typeface="B Nazanin" panose="00000400000000000000" pitchFamily="2" charset="-78"/>
              </a:rPr>
              <a:t> هوش مصنوعی دیگر برای دکتر کار خلاصه سازی را انجام می دهد ، تا درمانگر خلاصه ی برای مثال 5 جلسه ی آخر خود را داشته باشد </a:t>
            </a:r>
            <a:endParaRPr lang="en-US" sz="1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88037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2E2DC-3338-0053-3501-47F5A7048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CF1A6-3ED6-2604-C211-C0BFC06D8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356" y="246714"/>
            <a:ext cx="10515600" cy="766363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‍7) پرونده ی دیجیتال آنلاین درمانگر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DF887-29D5-29E7-7A8B-8A6A9B8B6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32" y="1469513"/>
            <a:ext cx="8378060" cy="49874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911446-F1AB-92EE-86B8-ED8E71B11687}"/>
              </a:ext>
            </a:extLst>
          </p:cNvPr>
          <p:cNvSpPr txBox="1"/>
          <p:nvPr/>
        </p:nvSpPr>
        <p:spPr>
          <a:xfrm>
            <a:off x="8861129" y="2736622"/>
            <a:ext cx="307212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/>
            <a:r>
              <a:rPr lang="fa-IR" sz="1600" dirty="0">
                <a:cs typeface="B Nazanin" panose="00000400000000000000" pitchFamily="2" charset="-78"/>
              </a:rPr>
              <a:t>در پرونده ی دیجیتال ، فرم های متعددی وجود دارد ، که این فرم شامل فیلد های رسمی  و موردنیاز هر درمانگر مثل، شکایت اصلی مراجع ، تکالیف و یادداشت های درمانگر می باشد ، درمانگر همچنین می تواند خلاصه جلسه را </a:t>
            </a:r>
            <a:r>
              <a:rPr lang="en-US" sz="1600" dirty="0">
                <a:cs typeface="B Nazanin" panose="00000400000000000000" pitchFamily="2" charset="-78"/>
              </a:rPr>
              <a:t>voice </a:t>
            </a:r>
            <a:r>
              <a:rPr lang="fa-IR" sz="1600" dirty="0">
                <a:cs typeface="B Nazanin" panose="00000400000000000000" pitchFamily="2" charset="-78"/>
              </a:rPr>
              <a:t> گرفته و سپس </a:t>
            </a:r>
            <a:r>
              <a:rPr lang="en-US" sz="1600" dirty="0">
                <a:cs typeface="B Nazanin" panose="00000400000000000000" pitchFamily="2" charset="-78"/>
              </a:rPr>
              <a:t>agent </a:t>
            </a:r>
            <a:r>
              <a:rPr lang="fa-IR" sz="1600" dirty="0">
                <a:cs typeface="B Nazanin" panose="00000400000000000000" pitchFamily="2" charset="-78"/>
              </a:rPr>
              <a:t> هوش مصنوعی ما هر </a:t>
            </a:r>
            <a:r>
              <a:rPr lang="en-US" sz="1600" dirty="0">
                <a:cs typeface="B Nazanin" panose="00000400000000000000" pitchFamily="2" charset="-78"/>
              </a:rPr>
              <a:t>field</a:t>
            </a:r>
            <a:r>
              <a:rPr lang="fa-IR" sz="1600" dirty="0">
                <a:cs typeface="B Nazanin" panose="00000400000000000000" pitchFamily="2" charset="-78"/>
              </a:rPr>
              <a:t> را تشخیص داده و بصورت اتومات این </a:t>
            </a:r>
            <a:r>
              <a:rPr lang="en-US" sz="1600" dirty="0">
                <a:cs typeface="B Nazanin" panose="00000400000000000000" pitchFamily="2" charset="-78"/>
              </a:rPr>
              <a:t>json </a:t>
            </a:r>
            <a:r>
              <a:rPr lang="fa-IR" sz="1600" dirty="0">
                <a:cs typeface="B Nazanin" panose="00000400000000000000" pitchFamily="2" charset="-78"/>
              </a:rPr>
              <a:t> در دیتابیس ذخیره شود و </a:t>
            </a:r>
            <a:r>
              <a:rPr lang="en-US" sz="1600" dirty="0">
                <a:cs typeface="B Nazanin" panose="00000400000000000000" pitchFamily="2" charset="-78"/>
              </a:rPr>
              <a:t>field </a:t>
            </a:r>
            <a:r>
              <a:rPr lang="fa-IR" sz="1600" dirty="0">
                <a:cs typeface="B Nazanin" panose="00000400000000000000" pitchFamily="2" charset="-78"/>
              </a:rPr>
              <a:t> ها بصورت اتومات پر بشوند ، این یادداشت های پزشک بعد توسط یک </a:t>
            </a:r>
            <a:r>
              <a:rPr lang="en-US" sz="1600" dirty="0">
                <a:cs typeface="B Nazanin" panose="00000400000000000000" pitchFamily="2" charset="-78"/>
              </a:rPr>
              <a:t>agent </a:t>
            </a:r>
            <a:r>
              <a:rPr lang="fa-IR" sz="1600" dirty="0">
                <a:cs typeface="B Nazanin" panose="00000400000000000000" pitchFamily="2" charset="-78"/>
              </a:rPr>
              <a:t> هوش مصنوعی دیگر برای دکتر کار خلاصه سازی را انجام می دهد ، تا درمانگر خلاصه ی برای مثال 5 جلسه ی آخر خود را داشته باشد </a:t>
            </a:r>
            <a:endParaRPr lang="en-US" sz="1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49055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2EE37E-8E4B-5442-AF11-D733455AC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1" y="1282791"/>
            <a:ext cx="6324277" cy="44535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79DAD1-4C1D-77CD-1064-E49E2663A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487" y="980184"/>
            <a:ext cx="5575513" cy="53449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F6753F-92E0-4978-2C38-6362568C8756}"/>
              </a:ext>
            </a:extLst>
          </p:cNvPr>
          <p:cNvSpPr txBox="1"/>
          <p:nvPr/>
        </p:nvSpPr>
        <p:spPr>
          <a:xfrm>
            <a:off x="1223585" y="6203447"/>
            <a:ext cx="324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cs typeface="B Nazanin" panose="00000400000000000000" pitchFamily="2" charset="-78"/>
              </a:rPr>
              <a:t>نمونه تحلیل که درمانگر مشاهده می کند + دسترسی به چت کاربر</a:t>
            </a:r>
            <a:endParaRPr lang="en-US" sz="1200" dirty="0">
              <a:cs typeface="B Nazanin" panose="00000400000000000000" pitchFamily="2" charset="-7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41E24D-A88C-AC44-B3B4-AF321DFCEFC0}"/>
              </a:ext>
            </a:extLst>
          </p:cNvPr>
          <p:cNvSpPr txBox="1"/>
          <p:nvPr/>
        </p:nvSpPr>
        <p:spPr>
          <a:xfrm>
            <a:off x="7750471" y="6441366"/>
            <a:ext cx="3249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1200" dirty="0">
                <a:cs typeface="B Nazanin" panose="00000400000000000000" pitchFamily="2" charset="-78"/>
              </a:rPr>
              <a:t>نمونه پروفایل کاربر و امکانات آن</a:t>
            </a:r>
            <a:endParaRPr lang="en-US" sz="1200" dirty="0">
              <a:cs typeface="B Nazanin" panose="00000400000000000000" pitchFamily="2" charset="-78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C59A3EF-E421-C467-5985-89D38D898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356" y="246714"/>
            <a:ext cx="10515600" cy="766363"/>
          </a:xfrm>
        </p:spPr>
        <p:txBody>
          <a:bodyPr/>
          <a:lstStyle/>
          <a:p>
            <a:pPr algn="r" rtl="1"/>
            <a:r>
              <a:rPr lang="fa-IR" dirty="0">
                <a:cs typeface="B Titr" panose="00000700000000000000" pitchFamily="2" charset="-78"/>
              </a:rPr>
              <a:t>‍7) نمونه عکس های سایت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046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1361</Words>
  <Application>Microsoft Office PowerPoint</Application>
  <PresentationFormat>Widescreen</PresentationFormat>
  <Paragraphs>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B Nazanin</vt:lpstr>
      <vt:lpstr>B Titr</vt:lpstr>
      <vt:lpstr>Times New Roman</vt:lpstr>
      <vt:lpstr>Office Theme</vt:lpstr>
      <vt:lpstr>PowerPoint Presentation</vt:lpstr>
      <vt:lpstr>محوریت اصلی توسعه ی روانصد</vt:lpstr>
      <vt:lpstr>نیازمندی های سطوح دسترسی </vt:lpstr>
      <vt:lpstr>سطوح دسترسی منشی </vt:lpstr>
      <vt:lpstr>سطح دسترسی کاربر جدید ویزیت نشده</vt:lpstr>
      <vt:lpstr>رویکرد در صورت اتمام حجم مصرفی مراجع</vt:lpstr>
      <vt:lpstr>شرط اجرا شدن  agent های ما</vt:lpstr>
      <vt:lpstr>نمونه  workflow agent ها </vt:lpstr>
      <vt:lpstr>رویکرد در زمان قطعی اینترنت یا کاهش مصرف توکن  </vt:lpstr>
      <vt:lpstr>جزئیاتtask  ها </vt:lpstr>
      <vt:lpstr>‍۱) تصمیم گیری در مورد UI ,UX و هویت بصری برند</vt:lpstr>
      <vt:lpstr>‍2) پیاده سازی فرایند authentication</vt:lpstr>
      <vt:lpstr>‍3) نحوه ی ذخیره سازی و مدیریت اطلاعات چت کاربر</vt:lpstr>
      <vt:lpstr>‍4) نحوه ی کارکرد پنل درمانگر و لیست مراجعین</vt:lpstr>
      <vt:lpstr>‍5) پیاده سازی مدیریت کلینیک</vt:lpstr>
      <vt:lpstr>‍6) پرونده ی دیجیتال آنلاین درمانگر </vt:lpstr>
      <vt:lpstr>‍7) پرونده ی دیجیتال آنلاین درمانگر </vt:lpstr>
      <vt:lpstr>‍7) نمونه عکس های سایت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Esi Mash</dc:creator>
  <cp:lastModifiedBy>Ryan</cp:lastModifiedBy>
  <cp:revision>46</cp:revision>
  <dcterms:created xsi:type="dcterms:W3CDTF">2026-07-05T13:17:35Z</dcterms:created>
  <dcterms:modified xsi:type="dcterms:W3CDTF">2026-07-07T01:31:55Z</dcterms:modified>
</cp:coreProperties>
</file>