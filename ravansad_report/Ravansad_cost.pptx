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2" r:id="rId8"/>
    <p:sldId id="270" r:id="rId9"/>
    <p:sldId id="271" r:id="rId10"/>
    <p:sldId id="264" r:id="rId11"/>
    <p:sldId id="265" r:id="rId12"/>
    <p:sldId id="266" r:id="rId13"/>
    <p:sldId id="267" r:id="rId14"/>
    <p:sldId id="269" r:id="rId15"/>
    <p:sldId id="263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-29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27ADA7-FDA9-4A67-BFA2-AF965C49F429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AC0834A-FA84-4DD5-A566-37050E15B10B}">
      <dgm:prSet custT="1"/>
      <dgm:spPr/>
      <dgm:t>
        <a:bodyPr/>
        <a:lstStyle/>
        <a:p>
          <a:pPr algn="just" rtl="1"/>
          <a:r>
            <a:rPr lang="fa-IR" sz="1600" dirty="0">
              <a:cs typeface="B Nazanin" panose="00000400000000000000" pitchFamily="2" charset="-78"/>
            </a:rPr>
            <a:t>رباتی که کابربر باهاش مشاوره می کنه، به دوستاش بده با یه کد معرف ، و زمان بیشتری بتونه چت خوده کابرر ، مشاوره ای که دوستاش میشن با چت بات ، می تونه دکتر رو پیشنهاد بده براشون نوبت با تخفیف بگیره و اصلا می تونه تحلیل کوچیک انجام بده و خودشون بده ، </a:t>
          </a:r>
          <a:endParaRPr lang="en-US" sz="1600" dirty="0">
            <a:cs typeface="B Nazanin" panose="00000400000000000000" pitchFamily="2" charset="-78"/>
          </a:endParaRPr>
        </a:p>
      </dgm:t>
    </dgm:pt>
    <dgm:pt modelId="{501D8766-1A45-4BF1-8D3F-95024CD73CA6}" type="parTrans" cxnId="{F75CE459-6FD4-4CE7-A2D8-8EFC01E0CD47}">
      <dgm:prSet/>
      <dgm:spPr/>
      <dgm:t>
        <a:bodyPr/>
        <a:lstStyle/>
        <a:p>
          <a:endParaRPr lang="en-US"/>
        </a:p>
      </dgm:t>
    </dgm:pt>
    <dgm:pt modelId="{99728A4F-D528-4B23-9860-103D6A9E3177}" type="sibTrans" cxnId="{F75CE459-6FD4-4CE7-A2D8-8EFC01E0CD47}">
      <dgm:prSet/>
      <dgm:spPr/>
      <dgm:t>
        <a:bodyPr/>
        <a:lstStyle/>
        <a:p>
          <a:endParaRPr lang="en-US"/>
        </a:p>
      </dgm:t>
    </dgm:pt>
    <dgm:pt modelId="{3A11D47B-AA9D-4A8D-8D16-A3451C5CCC48}">
      <dgm:prSet custT="1"/>
      <dgm:spPr/>
      <dgm:t>
        <a:bodyPr/>
        <a:lstStyle/>
        <a:p>
          <a:r>
            <a:rPr lang="fa-IR" sz="1600" dirty="0">
              <a:cs typeface="B Nazanin" panose="00000400000000000000" pitchFamily="2" charset="-78"/>
            </a:rPr>
            <a:t>ما کالا یه چت بات از اول تعریف شده داشته باشییم، کاربر رندوم باید صحبت کنه شهر و سن و چیزای دیگشو بزنه ، پیش مشاروه بشه ... ولی اولویت بندی میشه به دکتری که بیشتر از پلتفرم ما استفاده شده </a:t>
          </a:r>
          <a:endParaRPr lang="en-US" sz="1600" dirty="0">
            <a:cs typeface="B Nazanin" panose="00000400000000000000" pitchFamily="2" charset="-78"/>
          </a:endParaRPr>
        </a:p>
      </dgm:t>
    </dgm:pt>
    <dgm:pt modelId="{998EDB8B-CB2F-4192-9DB9-6B7288F09B0B}" type="parTrans" cxnId="{27871F1D-442E-4B41-A1EF-D646C5A03A07}">
      <dgm:prSet/>
      <dgm:spPr/>
      <dgm:t>
        <a:bodyPr/>
        <a:lstStyle/>
        <a:p>
          <a:endParaRPr lang="en-US"/>
        </a:p>
      </dgm:t>
    </dgm:pt>
    <dgm:pt modelId="{DCA14F6E-A5F3-4328-AAD1-4D92AC354B0A}" type="sibTrans" cxnId="{27871F1D-442E-4B41-A1EF-D646C5A03A07}">
      <dgm:prSet/>
      <dgm:spPr/>
      <dgm:t>
        <a:bodyPr/>
        <a:lstStyle/>
        <a:p>
          <a:endParaRPr lang="en-US"/>
        </a:p>
      </dgm:t>
    </dgm:pt>
    <dgm:pt modelId="{486C4DE5-67ED-4B05-B6A4-2736D57A687B}" type="pres">
      <dgm:prSet presAssocID="{0727ADA7-FDA9-4A67-BFA2-AF965C49F42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1620607-CB5E-4394-BD6D-9AC8D24B8D3B}" type="pres">
      <dgm:prSet presAssocID="{DAC0834A-FA84-4DD5-A566-37050E15B10B}" presName="hierRoot1" presStyleCnt="0"/>
      <dgm:spPr/>
    </dgm:pt>
    <dgm:pt modelId="{8F59BFFD-B442-4F6E-B95C-92531EFDFE6D}" type="pres">
      <dgm:prSet presAssocID="{DAC0834A-FA84-4DD5-A566-37050E15B10B}" presName="composite" presStyleCnt="0"/>
      <dgm:spPr/>
    </dgm:pt>
    <dgm:pt modelId="{FDA366BB-A739-485F-BC37-9DFCEC3C3E3A}" type="pres">
      <dgm:prSet presAssocID="{DAC0834A-FA84-4DD5-A566-37050E15B10B}" presName="background" presStyleLbl="node0" presStyleIdx="0" presStyleCnt="2"/>
      <dgm:spPr/>
    </dgm:pt>
    <dgm:pt modelId="{3B13D5D0-5534-4A4C-8D2F-668F8253C6C3}" type="pres">
      <dgm:prSet presAssocID="{DAC0834A-FA84-4DD5-A566-37050E15B10B}" presName="text" presStyleLbl="fgAcc0" presStyleIdx="0" presStyleCnt="2">
        <dgm:presLayoutVars>
          <dgm:chPref val="3"/>
        </dgm:presLayoutVars>
      </dgm:prSet>
      <dgm:spPr/>
    </dgm:pt>
    <dgm:pt modelId="{98C438BD-F790-4827-8CE5-B4CF1E6D169E}" type="pres">
      <dgm:prSet presAssocID="{DAC0834A-FA84-4DD5-A566-37050E15B10B}" presName="hierChild2" presStyleCnt="0"/>
      <dgm:spPr/>
    </dgm:pt>
    <dgm:pt modelId="{4DC8C3B9-B325-4480-B31B-B244B3A1C867}" type="pres">
      <dgm:prSet presAssocID="{3A11D47B-AA9D-4A8D-8D16-A3451C5CCC48}" presName="hierRoot1" presStyleCnt="0"/>
      <dgm:spPr/>
    </dgm:pt>
    <dgm:pt modelId="{B4CDCF86-BEC7-433D-8866-DFC1298D623A}" type="pres">
      <dgm:prSet presAssocID="{3A11D47B-AA9D-4A8D-8D16-A3451C5CCC48}" presName="composite" presStyleCnt="0"/>
      <dgm:spPr/>
    </dgm:pt>
    <dgm:pt modelId="{9468411E-04C8-4706-8423-63E6C3F9E017}" type="pres">
      <dgm:prSet presAssocID="{3A11D47B-AA9D-4A8D-8D16-A3451C5CCC48}" presName="background" presStyleLbl="node0" presStyleIdx="1" presStyleCnt="2"/>
      <dgm:spPr/>
    </dgm:pt>
    <dgm:pt modelId="{DDAD955B-916D-4C56-8DD5-8EB57E4A9D8F}" type="pres">
      <dgm:prSet presAssocID="{3A11D47B-AA9D-4A8D-8D16-A3451C5CCC48}" presName="text" presStyleLbl="fgAcc0" presStyleIdx="1" presStyleCnt="2">
        <dgm:presLayoutVars>
          <dgm:chPref val="3"/>
        </dgm:presLayoutVars>
      </dgm:prSet>
      <dgm:spPr/>
    </dgm:pt>
    <dgm:pt modelId="{BB8138AB-3CFE-4B0B-8CC4-4CAA8BAC96B7}" type="pres">
      <dgm:prSet presAssocID="{3A11D47B-AA9D-4A8D-8D16-A3451C5CCC48}" presName="hierChild2" presStyleCnt="0"/>
      <dgm:spPr/>
    </dgm:pt>
  </dgm:ptLst>
  <dgm:cxnLst>
    <dgm:cxn modelId="{27871F1D-442E-4B41-A1EF-D646C5A03A07}" srcId="{0727ADA7-FDA9-4A67-BFA2-AF965C49F429}" destId="{3A11D47B-AA9D-4A8D-8D16-A3451C5CCC48}" srcOrd="1" destOrd="0" parTransId="{998EDB8B-CB2F-4192-9DB9-6B7288F09B0B}" sibTransId="{DCA14F6E-A5F3-4328-AAD1-4D92AC354B0A}"/>
    <dgm:cxn modelId="{70949E37-F0AC-4B5E-BC27-1323DC324E64}" type="presOf" srcId="{DAC0834A-FA84-4DD5-A566-37050E15B10B}" destId="{3B13D5D0-5534-4A4C-8D2F-668F8253C6C3}" srcOrd="0" destOrd="0" presId="urn:microsoft.com/office/officeart/2005/8/layout/hierarchy1"/>
    <dgm:cxn modelId="{CA096138-B515-490F-BFE1-A1DFFC2CC54C}" type="presOf" srcId="{0727ADA7-FDA9-4A67-BFA2-AF965C49F429}" destId="{486C4DE5-67ED-4B05-B6A4-2736D57A687B}" srcOrd="0" destOrd="0" presId="urn:microsoft.com/office/officeart/2005/8/layout/hierarchy1"/>
    <dgm:cxn modelId="{F75CE459-6FD4-4CE7-A2D8-8EFC01E0CD47}" srcId="{0727ADA7-FDA9-4A67-BFA2-AF965C49F429}" destId="{DAC0834A-FA84-4DD5-A566-37050E15B10B}" srcOrd="0" destOrd="0" parTransId="{501D8766-1A45-4BF1-8D3F-95024CD73CA6}" sibTransId="{99728A4F-D528-4B23-9860-103D6A9E3177}"/>
    <dgm:cxn modelId="{0D598AF0-34CB-4AE5-9AF8-C04E97CBD1A1}" type="presOf" srcId="{3A11D47B-AA9D-4A8D-8D16-A3451C5CCC48}" destId="{DDAD955B-916D-4C56-8DD5-8EB57E4A9D8F}" srcOrd="0" destOrd="0" presId="urn:microsoft.com/office/officeart/2005/8/layout/hierarchy1"/>
    <dgm:cxn modelId="{8007E0AE-1F73-41AC-B09C-EC3A29BC38E6}" type="presParOf" srcId="{486C4DE5-67ED-4B05-B6A4-2736D57A687B}" destId="{91620607-CB5E-4394-BD6D-9AC8D24B8D3B}" srcOrd="0" destOrd="0" presId="urn:microsoft.com/office/officeart/2005/8/layout/hierarchy1"/>
    <dgm:cxn modelId="{8763ECAC-8DC8-4B2B-8367-A8BCBB320E29}" type="presParOf" srcId="{91620607-CB5E-4394-BD6D-9AC8D24B8D3B}" destId="{8F59BFFD-B442-4F6E-B95C-92531EFDFE6D}" srcOrd="0" destOrd="0" presId="urn:microsoft.com/office/officeart/2005/8/layout/hierarchy1"/>
    <dgm:cxn modelId="{3EC3C886-3EB0-44CC-8BBB-65FA8098ABF9}" type="presParOf" srcId="{8F59BFFD-B442-4F6E-B95C-92531EFDFE6D}" destId="{FDA366BB-A739-485F-BC37-9DFCEC3C3E3A}" srcOrd="0" destOrd="0" presId="urn:microsoft.com/office/officeart/2005/8/layout/hierarchy1"/>
    <dgm:cxn modelId="{F30622E1-B174-4D3F-A0F2-32EDAB0CB056}" type="presParOf" srcId="{8F59BFFD-B442-4F6E-B95C-92531EFDFE6D}" destId="{3B13D5D0-5534-4A4C-8D2F-668F8253C6C3}" srcOrd="1" destOrd="0" presId="urn:microsoft.com/office/officeart/2005/8/layout/hierarchy1"/>
    <dgm:cxn modelId="{98076CA3-7C35-4DBC-8F88-A0B47A5D6F14}" type="presParOf" srcId="{91620607-CB5E-4394-BD6D-9AC8D24B8D3B}" destId="{98C438BD-F790-4827-8CE5-B4CF1E6D169E}" srcOrd="1" destOrd="0" presId="urn:microsoft.com/office/officeart/2005/8/layout/hierarchy1"/>
    <dgm:cxn modelId="{90A3A919-4763-4FB0-86A9-3D0376324616}" type="presParOf" srcId="{486C4DE5-67ED-4B05-B6A4-2736D57A687B}" destId="{4DC8C3B9-B325-4480-B31B-B244B3A1C867}" srcOrd="1" destOrd="0" presId="urn:microsoft.com/office/officeart/2005/8/layout/hierarchy1"/>
    <dgm:cxn modelId="{D97753EB-8B9F-427C-B6C7-6000C9BA97F3}" type="presParOf" srcId="{4DC8C3B9-B325-4480-B31B-B244B3A1C867}" destId="{B4CDCF86-BEC7-433D-8866-DFC1298D623A}" srcOrd="0" destOrd="0" presId="urn:microsoft.com/office/officeart/2005/8/layout/hierarchy1"/>
    <dgm:cxn modelId="{3C3BDF93-138D-403B-806C-B7CA46F92DF8}" type="presParOf" srcId="{B4CDCF86-BEC7-433D-8866-DFC1298D623A}" destId="{9468411E-04C8-4706-8423-63E6C3F9E017}" srcOrd="0" destOrd="0" presId="urn:microsoft.com/office/officeart/2005/8/layout/hierarchy1"/>
    <dgm:cxn modelId="{BC95919C-31E8-4B48-802B-E6A03EAAA943}" type="presParOf" srcId="{B4CDCF86-BEC7-433D-8866-DFC1298D623A}" destId="{DDAD955B-916D-4C56-8DD5-8EB57E4A9D8F}" srcOrd="1" destOrd="0" presId="urn:microsoft.com/office/officeart/2005/8/layout/hierarchy1"/>
    <dgm:cxn modelId="{E440BDF5-5C0A-4F18-9A2C-DC0C89DE61E4}" type="presParOf" srcId="{4DC8C3B9-B325-4480-B31B-B244B3A1C867}" destId="{BB8138AB-3CFE-4B0B-8CC4-4CAA8BAC96B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366BB-A739-485F-BC37-9DFCEC3C3E3A}">
      <dsp:nvSpPr>
        <dsp:cNvPr id="0" name=""/>
        <dsp:cNvSpPr/>
      </dsp:nvSpPr>
      <dsp:spPr>
        <a:xfrm>
          <a:off x="1227" y="284662"/>
          <a:ext cx="4309690" cy="27366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B13D5D0-5534-4A4C-8D2F-668F8253C6C3}">
      <dsp:nvSpPr>
        <dsp:cNvPr id="0" name=""/>
        <dsp:cNvSpPr/>
      </dsp:nvSpPr>
      <dsp:spPr>
        <a:xfrm>
          <a:off x="480082" y="739574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just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cs typeface="B Nazanin" panose="00000400000000000000" pitchFamily="2" charset="-78"/>
            </a:rPr>
            <a:t>رباتی که کابربر باهاش مشاوره می کنه، به دوستاش بده با یه کد معرف ، و زمان بیشتری بتونه چت خوده کابرر ، مشاوره ای که دوستاش میشن با چت بات ، می تونه دکتر رو پیشنهاد بده براشون نوبت با تخفیف بگیره و اصلا می تونه تحلیل کوچیک انجام بده و خودشون بده ، </a:t>
          </a:r>
          <a:endParaRPr lang="en-US" sz="1600" kern="1200" dirty="0">
            <a:cs typeface="B Nazanin" panose="00000400000000000000" pitchFamily="2" charset="-78"/>
          </a:endParaRPr>
        </a:p>
      </dsp:txBody>
      <dsp:txXfrm>
        <a:off x="560236" y="819728"/>
        <a:ext cx="4149382" cy="2576345"/>
      </dsp:txXfrm>
    </dsp:sp>
    <dsp:sp modelId="{9468411E-04C8-4706-8423-63E6C3F9E017}">
      <dsp:nvSpPr>
        <dsp:cNvPr id="0" name=""/>
        <dsp:cNvSpPr/>
      </dsp:nvSpPr>
      <dsp:spPr>
        <a:xfrm>
          <a:off x="5268627" y="284662"/>
          <a:ext cx="4309690" cy="27366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DAD955B-916D-4C56-8DD5-8EB57E4A9D8F}">
      <dsp:nvSpPr>
        <dsp:cNvPr id="0" name=""/>
        <dsp:cNvSpPr/>
      </dsp:nvSpPr>
      <dsp:spPr>
        <a:xfrm>
          <a:off x="5747481" y="739574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cs typeface="B Nazanin" panose="00000400000000000000" pitchFamily="2" charset="-78"/>
            </a:rPr>
            <a:t>ما کالا یه چت بات از اول تعریف شده داشته باشییم، کاربر رندوم باید صحبت کنه شهر و سن و چیزای دیگشو بزنه ، پیش مشاروه بشه ... ولی اولویت بندی میشه به دکتری که بیشتر از پلتفرم ما استفاده شده </a:t>
          </a:r>
          <a:endParaRPr lang="en-US" sz="1600" kern="1200" dirty="0">
            <a:cs typeface="B Nazanin" panose="00000400000000000000" pitchFamily="2" charset="-78"/>
          </a:endParaRPr>
        </a:p>
      </dsp:txBody>
      <dsp:txXfrm>
        <a:off x="5827635" y="819728"/>
        <a:ext cx="4149382" cy="2576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 err="1"/>
              <a:t>Ravansad</a:t>
            </a:r>
            <a:r>
              <a:rPr lang="en-US" sz="8000" dirty="0"/>
              <a:t> </a:t>
            </a:r>
            <a:br>
              <a:rPr lang="en-US" sz="8000" dirty="0"/>
            </a:br>
            <a:r>
              <a:rPr lang="en-US" sz="8000" dirty="0"/>
              <a:t>cost estimation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Ryan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F24ABDC-98BE-C5EE-D948-8CBE1FE93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91676" cy="63944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801CF5-E6D5-9F15-C76B-69AF708A8ED2}"/>
              </a:ext>
            </a:extLst>
          </p:cNvPr>
          <p:cNvSpPr txBox="1"/>
          <p:nvPr/>
        </p:nvSpPr>
        <p:spPr>
          <a:xfrm>
            <a:off x="9915524" y="2647950"/>
            <a:ext cx="19621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800" dirty="0">
                <a:cs typeface="B Titr" panose="00000700000000000000" pitchFamily="2" charset="-78"/>
              </a:rPr>
              <a:t>هزینه توکن مصرفی هر کاربر در تعامل با چت بات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BE2B0B-D63E-FF3D-AA10-C13F67231F4E}"/>
              </a:ext>
            </a:extLst>
          </p:cNvPr>
          <p:cNvSpPr txBox="1"/>
          <p:nvPr/>
        </p:nvSpPr>
        <p:spPr>
          <a:xfrm>
            <a:off x="10041851" y="4154906"/>
            <a:ext cx="18358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price range </a:t>
            </a:r>
          </a:p>
          <a:p>
            <a:endParaRPr lang="en-US" dirty="0"/>
          </a:p>
          <a:p>
            <a:r>
              <a:rPr lang="en-US" dirty="0"/>
              <a:t>0.6 -&gt;  12,000 T </a:t>
            </a:r>
          </a:p>
          <a:p>
            <a:r>
              <a:rPr lang="en-US" dirty="0"/>
              <a:t>0.12 -&gt; 24,000 T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9613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0F5C32-18A1-ABE6-C67F-2EB8E36167A8}"/>
              </a:ext>
            </a:extLst>
          </p:cNvPr>
          <p:cNvSpPr txBox="1"/>
          <p:nvPr/>
        </p:nvSpPr>
        <p:spPr>
          <a:xfrm>
            <a:off x="257175" y="3244334"/>
            <a:ext cx="1267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B Nazanin" panose="00000400000000000000" pitchFamily="2" charset="-78"/>
              </a:rPr>
              <a:t>Token cost</a:t>
            </a:r>
          </a:p>
          <a:p>
            <a:r>
              <a:rPr lang="en-US" dirty="0">
                <a:cs typeface="B Nazanin" panose="00000400000000000000" pitchFamily="2" charset="-78"/>
              </a:rPr>
              <a:t>For agents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5F0299-0621-0607-79C5-C924BCD1D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71" y="0"/>
            <a:ext cx="10493829" cy="64287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D02ECB-D1D0-7875-BEF7-8E7C0D3BB281}"/>
              </a:ext>
            </a:extLst>
          </p:cNvPr>
          <p:cNvSpPr txBox="1"/>
          <p:nvPr/>
        </p:nvSpPr>
        <p:spPr>
          <a:xfrm>
            <a:off x="257175" y="1019294"/>
            <a:ext cx="144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i="0" dirty="0">
                <a:effectLst/>
                <a:latin typeface="Segoe WPC"/>
              </a:rPr>
              <a:t>~$0.16 – $0.22/month</a:t>
            </a:r>
          </a:p>
          <a:p>
            <a:r>
              <a:rPr lang="en-US" sz="900" b="1" dirty="0">
                <a:latin typeface="Segoe WPC"/>
              </a:rPr>
              <a:t>4 run per month 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64401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C91405-B224-98F7-81EF-44B1CA4BAC5F}"/>
              </a:ext>
            </a:extLst>
          </p:cNvPr>
          <p:cNvSpPr txBox="1"/>
          <p:nvPr/>
        </p:nvSpPr>
        <p:spPr>
          <a:xfrm>
            <a:off x="9486900" y="3010970"/>
            <a:ext cx="2809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درآمد احتمالی سیستم ما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355B3-1CC5-616B-B632-440B1C8F4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810"/>
            <a:ext cx="9513180" cy="626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37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1D55C9-8E02-3408-1966-B96FC31BD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658820"/>
              </p:ext>
            </p:extLst>
          </p:nvPr>
        </p:nvGraphicFramePr>
        <p:xfrm>
          <a:off x="1310323" y="3505387"/>
          <a:ext cx="8808720" cy="1501140"/>
        </p:xfrm>
        <a:graphic>
          <a:graphicData uri="http://schemas.openxmlformats.org/drawingml/2006/table">
            <a:tbl>
              <a:tblPr/>
              <a:tblGrid>
                <a:gridCol w="3696402">
                  <a:extLst>
                    <a:ext uri="{9D8B030D-6E8A-4147-A177-3AD203B41FA5}">
                      <a16:colId xmlns:a16="http://schemas.microsoft.com/office/drawing/2014/main" val="4234158990"/>
                    </a:ext>
                  </a:extLst>
                </a:gridCol>
                <a:gridCol w="5112318">
                  <a:extLst>
                    <a:ext uri="{9D8B030D-6E8A-4147-A177-3AD203B41FA5}">
                      <a16:colId xmlns:a16="http://schemas.microsoft.com/office/drawing/2014/main" val="3688120630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3300" b="1" i="0" dirty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Total Cost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(agents + user conversation ) </a:t>
                      </a:r>
                    </a:p>
                    <a:p>
                      <a:pPr algn="l" fontAlgn="t" latinLnBrk="0">
                        <a:buNone/>
                      </a:pPr>
                      <a:endParaRPr lang="en-US" sz="3300" b="0" i="0" dirty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226314" marR="226314" marT="125730" marB="1257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3300" b="1" i="0" dirty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~$0.33 – $0.39</a:t>
                      </a:r>
                      <a:endParaRPr lang="en-US" sz="3300" b="0" i="0" dirty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226314" marR="226314" marT="125730" marB="1257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4051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614037-2672-4D86-FB92-7D26A71FD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495335"/>
              </p:ext>
            </p:extLst>
          </p:nvPr>
        </p:nvGraphicFramePr>
        <p:xfrm>
          <a:off x="1066800" y="1948339"/>
          <a:ext cx="10058400" cy="112395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419616584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54343396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464927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Conversation summarizer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4 (weekly)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1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$0.008</a:t>
                      </a:r>
                      <a:endParaRPr lang="en-US" sz="975" b="0" i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067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Emotional state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4 (weekly)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1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$0.004</a:t>
                      </a:r>
                      <a:endParaRPr lang="en-US" sz="975" b="0" i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96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Doctor notes summarizer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2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1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$0.002</a:t>
                      </a:r>
                      <a:endParaRPr lang="en-US" sz="975" b="0" i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38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1" i="0" dirty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Field filler</a:t>
                      </a:r>
                      <a:endParaRPr lang="en-US" sz="975" b="0" i="0" dirty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1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4 (per visit)</a:t>
                      </a:r>
                      <a:endParaRPr lang="en-US" sz="975" b="0" i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1" i="0" dirty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$0.003</a:t>
                      </a:r>
                      <a:endParaRPr lang="en-US" sz="975" b="0" i="0" dirty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63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1" i="0" dirty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New agents total</a:t>
                      </a:r>
                      <a:endParaRPr lang="en-US" sz="975" b="0" i="0" dirty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975" b="0" i="0" dirty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1" i="0" dirty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~$0.017 ≈ $0.02</a:t>
                      </a:r>
                      <a:endParaRPr lang="en-US" sz="975" b="0" i="0" dirty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29454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DB5DC86-2F79-C24D-06C5-C2C778EB6032}"/>
              </a:ext>
            </a:extLst>
          </p:cNvPr>
          <p:cNvSpPr txBox="1"/>
          <p:nvPr/>
        </p:nvSpPr>
        <p:spPr>
          <a:xfrm>
            <a:off x="3169920" y="3072289"/>
            <a:ext cx="5608320" cy="98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00" b="1" i="0" dirty="0" err="1">
                <a:effectLst/>
                <a:latin typeface="Segoe WPC"/>
              </a:rPr>
              <a:t>Soniox</a:t>
            </a:r>
            <a:r>
              <a:rPr lang="en-US" sz="1800" b="1" i="0" dirty="0">
                <a:effectLst/>
                <a:latin typeface="Segoe WPC"/>
              </a:rPr>
              <a:t> cost = 4 × ~$0.0075 ≈ $0.03/month</a:t>
            </a:r>
            <a:endParaRPr lang="en-US" sz="1800" b="0" i="0" dirty="0">
              <a:effectLst/>
              <a:latin typeface="Segoe WPC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D318FE-173F-612E-87C9-5913D675CBCB}"/>
              </a:ext>
            </a:extLst>
          </p:cNvPr>
          <p:cNvSpPr txBox="1"/>
          <p:nvPr/>
        </p:nvSpPr>
        <p:spPr>
          <a:xfrm>
            <a:off x="3688080" y="632219"/>
            <a:ext cx="2847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cost per patient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4A8780-19BF-5DD9-6DD9-DDDBD9A71740}"/>
              </a:ext>
            </a:extLst>
          </p:cNvPr>
          <p:cNvSpPr txBox="1"/>
          <p:nvPr/>
        </p:nvSpPr>
        <p:spPr>
          <a:xfrm>
            <a:off x="1173480" y="5183689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 , 000 T cost per patient </a:t>
            </a:r>
          </a:p>
        </p:txBody>
      </p:sp>
    </p:spTree>
    <p:extLst>
      <p:ext uri="{BB962C8B-B14F-4D97-AF65-F5344CB8AC3E}">
        <p14:creationId xmlns:p14="http://schemas.microsoft.com/office/powerpoint/2010/main" val="368317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7626-BB6B-FB74-468F-F908BEAAD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Income estimation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91563E-6E91-D89E-E8B8-B6C2A38A56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734007"/>
              </p:ext>
            </p:extLst>
          </p:nvPr>
        </p:nvGraphicFramePr>
        <p:xfrm>
          <a:off x="1097280" y="2053114"/>
          <a:ext cx="10058401" cy="1752600"/>
        </p:xfrm>
        <a:graphic>
          <a:graphicData uri="http://schemas.openxmlformats.org/drawingml/2006/table">
            <a:tbl>
              <a:tblPr/>
              <a:tblGrid>
                <a:gridCol w="727321">
                  <a:extLst>
                    <a:ext uri="{9D8B030D-6E8A-4147-A177-3AD203B41FA5}">
                      <a16:colId xmlns:a16="http://schemas.microsoft.com/office/drawing/2014/main" val="1145063693"/>
                    </a:ext>
                  </a:extLst>
                </a:gridCol>
                <a:gridCol w="3110360">
                  <a:extLst>
                    <a:ext uri="{9D8B030D-6E8A-4147-A177-3AD203B41FA5}">
                      <a16:colId xmlns:a16="http://schemas.microsoft.com/office/drawing/2014/main" val="4072565938"/>
                    </a:ext>
                  </a:extLst>
                </a:gridCol>
                <a:gridCol w="3110360">
                  <a:extLst>
                    <a:ext uri="{9D8B030D-6E8A-4147-A177-3AD203B41FA5}">
                      <a16:colId xmlns:a16="http://schemas.microsoft.com/office/drawing/2014/main" val="2539028653"/>
                    </a:ext>
                  </a:extLst>
                </a:gridCol>
                <a:gridCol w="3110360">
                  <a:extLst>
                    <a:ext uri="{9D8B030D-6E8A-4147-A177-3AD203B41FA5}">
                      <a16:colId xmlns:a16="http://schemas.microsoft.com/office/drawing/2014/main" val="2572933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0">
                          <a:effectLst/>
                          <a:cs typeface="B Nazanin" panose="00000400000000000000" pitchFamily="2" charset="-78"/>
                        </a:rPr>
                        <a:t>درصد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0" dirty="0" err="1">
                          <a:effectLst/>
                          <a:cs typeface="B Nazanin" panose="00000400000000000000" pitchFamily="2" charset="-78"/>
                        </a:rPr>
                        <a:t>هر</a:t>
                      </a:r>
                      <a:r>
                        <a:rPr lang="en-US" b="0" dirty="0">
                          <a:effectLst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en-US" b="0" dirty="0" err="1">
                          <a:effectLst/>
                          <a:cs typeface="B Nazanin" panose="00000400000000000000" pitchFamily="2" charset="-78"/>
                        </a:rPr>
                        <a:t>ویزیت</a:t>
                      </a:r>
                      <a:r>
                        <a:rPr lang="en-US" b="0" dirty="0">
                          <a:effectLst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b="0" dirty="0">
                          <a:effectLst/>
                          <a:cs typeface="B Nazanin" panose="00000400000000000000" pitchFamily="2" charset="-78"/>
                        </a:rPr>
                        <a:t> (900 هزار تومن)</a:t>
                      </a:r>
                      <a:endParaRPr lang="en-US" b="0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a-IR" b="0" dirty="0">
                          <a:effectLst/>
                          <a:cs typeface="B Nazanin" panose="00000400000000000000" pitchFamily="2" charset="-78"/>
                        </a:rPr>
                        <a:t>در ماه  چهار ویزیت</a:t>
                      </a:r>
                      <a:endParaRPr lang="en-US" b="0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0" dirty="0">
                          <a:effectLst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b="0" dirty="0">
                          <a:effectLst/>
                          <a:cs typeface="B Nazanin" panose="00000400000000000000" pitchFamily="2" charset="-78"/>
                        </a:rPr>
                        <a:t>سود </a:t>
                      </a:r>
                      <a:r>
                        <a:rPr lang="fa-IR" sz="1000" b="0" dirty="0">
                          <a:effectLst/>
                          <a:cs typeface="B Nazanin" panose="00000400000000000000" pitchFamily="2" charset="-78"/>
                        </a:rPr>
                        <a:t>(بااحتساب 80 هزار تومن هزینه ) </a:t>
                      </a:r>
                      <a:endParaRPr lang="en-US" b="0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51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>
                          <a:effectLst/>
                          <a:cs typeface="B Nazanin" panose="00000400000000000000" pitchFamily="2" charset="-78"/>
                        </a:rPr>
                        <a:t>۳٪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cs typeface="B Nazanin" panose="00000400000000000000" pitchFamily="2" charset="-78"/>
                        </a:rPr>
                        <a:t>۲۷ </a:t>
                      </a:r>
                      <a:r>
                        <a:rPr lang="fa-IR" dirty="0">
                          <a:effectLst/>
                          <a:cs typeface="B Nazanin" panose="00000400000000000000" pitchFamily="2" charset="-78"/>
                        </a:rPr>
                        <a:t>هزار</a:t>
                      </a:r>
                      <a:endParaRPr lang="en-US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cs typeface="B Nazanin" panose="00000400000000000000" pitchFamily="2" charset="-78"/>
                        </a:rPr>
                        <a:t>۱۰۸</a:t>
                      </a:r>
                      <a:r>
                        <a:rPr lang="fa-IR" dirty="0">
                          <a:effectLst/>
                          <a:cs typeface="B Nazanin" panose="00000400000000000000" pitchFamily="2" charset="-78"/>
                        </a:rPr>
                        <a:t>هزار</a:t>
                      </a:r>
                      <a:endParaRPr lang="en-US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cs typeface="B Nazanin" panose="00000400000000000000" pitchFamily="2" charset="-78"/>
                        </a:rPr>
                        <a:t>۲۸</a:t>
                      </a:r>
                      <a:r>
                        <a:rPr lang="fa-IR" dirty="0">
                          <a:effectLst/>
                          <a:cs typeface="B Nazanin" panose="00000400000000000000" pitchFamily="2" charset="-78"/>
                        </a:rPr>
                        <a:t> هزار</a:t>
                      </a:r>
                      <a:endParaRPr lang="en-US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563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>
                          <a:effectLst/>
                          <a:cs typeface="B Nazanin" panose="00000400000000000000" pitchFamily="2" charset="-78"/>
                        </a:rPr>
                        <a:t>۵٪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cs typeface="B Nazanin" panose="00000400000000000000" pitchFamily="2" charset="-78"/>
                        </a:rPr>
                        <a:t>۴۵</a:t>
                      </a:r>
                      <a:r>
                        <a:rPr lang="fa-IR" dirty="0">
                          <a:effectLst/>
                          <a:cs typeface="B Nazanin" panose="00000400000000000000" pitchFamily="2" charset="-78"/>
                        </a:rPr>
                        <a:t> هزار</a:t>
                      </a:r>
                      <a:endParaRPr lang="en-US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cs typeface="B Nazanin" panose="00000400000000000000" pitchFamily="2" charset="-78"/>
                        </a:rPr>
                        <a:t>۱۸۰</a:t>
                      </a:r>
                      <a:r>
                        <a:rPr lang="fa-IR" dirty="0">
                          <a:effectLst/>
                          <a:cs typeface="B Nazanin" panose="00000400000000000000" pitchFamily="2" charset="-78"/>
                        </a:rPr>
                        <a:t>هزار</a:t>
                      </a:r>
                      <a:endParaRPr lang="en-US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cs typeface="B Nazanin" panose="00000400000000000000" pitchFamily="2" charset="-78"/>
                        </a:rPr>
                        <a:t>۱۰۰</a:t>
                      </a:r>
                      <a:r>
                        <a:rPr lang="fa-IR" dirty="0">
                          <a:effectLst/>
                          <a:cs typeface="B Nazanin" panose="00000400000000000000" pitchFamily="2" charset="-78"/>
                        </a:rPr>
                        <a:t>هزار</a:t>
                      </a:r>
                      <a:endParaRPr lang="en-US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319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>
                          <a:effectLst/>
                          <a:cs typeface="B Nazanin" panose="00000400000000000000" pitchFamily="2" charset="-78"/>
                        </a:rPr>
                        <a:t>۷٪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cs typeface="B Nazanin" panose="00000400000000000000" pitchFamily="2" charset="-78"/>
                        </a:rPr>
                        <a:t>۶۳</a:t>
                      </a:r>
                      <a:r>
                        <a:rPr lang="fa-IR" dirty="0">
                          <a:effectLst/>
                          <a:cs typeface="B Nazanin" panose="00000400000000000000" pitchFamily="2" charset="-78"/>
                        </a:rPr>
                        <a:t> هزار</a:t>
                      </a:r>
                      <a:endParaRPr lang="en-US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cs typeface="B Nazanin" panose="00000400000000000000" pitchFamily="2" charset="-78"/>
                        </a:rPr>
                        <a:t>۲۵۲</a:t>
                      </a:r>
                      <a:r>
                        <a:rPr lang="fa-IR" dirty="0">
                          <a:effectLst/>
                          <a:cs typeface="B Nazanin" panose="00000400000000000000" pitchFamily="2" charset="-78"/>
                        </a:rPr>
                        <a:t> هزار</a:t>
                      </a:r>
                      <a:endParaRPr lang="en-US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cs typeface="B Nazanin" panose="00000400000000000000" pitchFamily="2" charset="-78"/>
                        </a:rPr>
                        <a:t>۱۷۲</a:t>
                      </a:r>
                      <a:r>
                        <a:rPr lang="fa-IR" dirty="0">
                          <a:effectLst/>
                          <a:cs typeface="B Nazanin" panose="00000400000000000000" pitchFamily="2" charset="-78"/>
                        </a:rPr>
                        <a:t> هزار</a:t>
                      </a:r>
                      <a:endParaRPr lang="en-US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971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>
                          <a:effectLst/>
                          <a:cs typeface="B Nazanin" panose="00000400000000000000" pitchFamily="2" charset="-78"/>
                        </a:rPr>
                        <a:t>۱۰٪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cs typeface="B Nazanin" panose="00000400000000000000" pitchFamily="2" charset="-78"/>
                        </a:rPr>
                        <a:t>۹۰</a:t>
                      </a:r>
                      <a:r>
                        <a:rPr lang="fa-IR" dirty="0">
                          <a:effectLst/>
                          <a:cs typeface="B Nazanin" panose="00000400000000000000" pitchFamily="2" charset="-78"/>
                        </a:rPr>
                        <a:t> هزار</a:t>
                      </a:r>
                      <a:endParaRPr lang="en-US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cs typeface="B Nazanin" panose="00000400000000000000" pitchFamily="2" charset="-78"/>
                        </a:rPr>
                        <a:t>۳۶۰</a:t>
                      </a:r>
                      <a:r>
                        <a:rPr lang="fa-IR" dirty="0">
                          <a:effectLst/>
                          <a:cs typeface="B Nazanin" panose="00000400000000000000" pitchFamily="2" charset="-78"/>
                        </a:rPr>
                        <a:t> هزار</a:t>
                      </a:r>
                      <a:endParaRPr lang="en-US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cs typeface="B Nazanin" panose="00000400000000000000" pitchFamily="2" charset="-78"/>
                        </a:rPr>
                        <a:t>۲۸۰</a:t>
                      </a:r>
                      <a:r>
                        <a:rPr lang="fa-IR" dirty="0">
                          <a:effectLst/>
                          <a:cs typeface="B Nazanin" panose="00000400000000000000" pitchFamily="2" charset="-78"/>
                        </a:rPr>
                        <a:t> هزار</a:t>
                      </a:r>
                      <a:endParaRPr lang="en-US" dirty="0">
                        <a:effectLst/>
                        <a:cs typeface="B Nazanin" panose="00000400000000000000" pitchFamily="2" charset="-78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22922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221171-05CB-511D-59DC-19A8FB46F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595991"/>
              </p:ext>
            </p:extLst>
          </p:nvPr>
        </p:nvGraphicFramePr>
        <p:xfrm>
          <a:off x="997902" y="4462939"/>
          <a:ext cx="9959658" cy="1123950"/>
        </p:xfrm>
        <a:graphic>
          <a:graphicData uri="http://schemas.openxmlformats.org/drawingml/2006/table">
            <a:tbl>
              <a:tblPr/>
              <a:tblGrid>
                <a:gridCol w="3319886">
                  <a:extLst>
                    <a:ext uri="{9D8B030D-6E8A-4147-A177-3AD203B41FA5}">
                      <a16:colId xmlns:a16="http://schemas.microsoft.com/office/drawing/2014/main" val="566187104"/>
                    </a:ext>
                  </a:extLst>
                </a:gridCol>
                <a:gridCol w="3319886">
                  <a:extLst>
                    <a:ext uri="{9D8B030D-6E8A-4147-A177-3AD203B41FA5}">
                      <a16:colId xmlns:a16="http://schemas.microsoft.com/office/drawing/2014/main" val="1141379121"/>
                    </a:ext>
                  </a:extLst>
                </a:gridCol>
                <a:gridCol w="3319886">
                  <a:extLst>
                    <a:ext uri="{9D8B030D-6E8A-4147-A177-3AD203B41FA5}">
                      <a16:colId xmlns:a16="http://schemas.microsoft.com/office/drawing/2014/main" val="822723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درصد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دریافت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سود درست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002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۳٪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۲۷,۰۰۰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1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-۵۳,۰۰۰</a:t>
                      </a:r>
                      <a:endParaRPr lang="en-US" sz="975" b="0" i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47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۵٪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۴۵,۰۰۰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1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-۳۵,۰۰۰</a:t>
                      </a:r>
                      <a:endParaRPr lang="en-US" sz="975" b="0" i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860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۷٪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۶۳,۰۰۰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1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-۱۷,۰۰۰</a:t>
                      </a:r>
                      <a:endParaRPr lang="en-US" sz="975" b="0" i="0">
                        <a:solidFill>
                          <a:srgbClr val="F0F0F0"/>
                        </a:solidFill>
                        <a:effectLst/>
                        <a:latin typeface="Segoe WPC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5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۱۰٪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0" i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۹۰,۰۰۰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975" b="1" i="0" dirty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+۱۰,۰۰۰</a:t>
                      </a:r>
                      <a:r>
                        <a:rPr lang="en-US" sz="975" b="0" i="0" dirty="0">
                          <a:solidFill>
                            <a:srgbClr val="F0F0F0"/>
                          </a:solidFill>
                          <a:effectLst/>
                          <a:latin typeface="Segoe WPC"/>
                        </a:rPr>
                        <a:t> ✓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929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6140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piral and curve design of a roof">
            <a:extLst>
              <a:ext uri="{FF2B5EF4-FFF2-40B4-BE49-F238E27FC236}">
                <a16:creationId xmlns:a16="http://schemas.microsoft.com/office/drawing/2014/main" id="{BFB78977-F328-AFE5-5046-4D4E83AB93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157" b="23585"/>
          <a:stretch>
            <a:fillRect/>
          </a:stretch>
        </p:blipFill>
        <p:spPr>
          <a:xfrm>
            <a:off x="15" y="10"/>
            <a:ext cx="12191985" cy="457834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0B09FE-4E38-BCB2-D69E-A34B45690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en-US" dirty="0"/>
              <a:t>Software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95677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E9CCCB0-D89F-86C8-DCA1-2466FCF9C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601" y="178458"/>
            <a:ext cx="9089234" cy="6067065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1A7BEE-41A3-6C13-E91A-4DF5B505BEC7}"/>
              </a:ext>
            </a:extLst>
          </p:cNvPr>
          <p:cNvSpPr txBox="1"/>
          <p:nvPr/>
        </p:nvSpPr>
        <p:spPr>
          <a:xfrm>
            <a:off x="526211" y="2700066"/>
            <a:ext cx="2096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conversation of the user get handled 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63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244008-0F82-801A-BDB0-021EBAA3E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1" y="1138225"/>
            <a:ext cx="7683549" cy="51223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236807-478B-EADE-A880-AC19EEF40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460" y="973633"/>
            <a:ext cx="4320540" cy="3128667"/>
          </a:xfrm>
          <a:prstGeom prst="rect">
            <a:avLst/>
          </a:prstGeom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57701AA-3071-8DD9-C7D5-79DCCBC6600E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 flipH="1">
            <a:off x="5522177" y="-407252"/>
            <a:ext cx="1214321" cy="7804784"/>
          </a:xfrm>
          <a:prstGeom prst="bentConnector4">
            <a:avLst>
              <a:gd name="adj1" fmla="val -18825"/>
              <a:gd name="adj2" fmla="val 1000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25">
            <a:extLst>
              <a:ext uri="{FF2B5EF4-FFF2-40B4-BE49-F238E27FC236}">
                <a16:creationId xmlns:a16="http://schemas.microsoft.com/office/drawing/2014/main" id="{2AE0B870-76E9-6DBB-8A4D-5250BF4ABE6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757160" y="5334000"/>
            <a:ext cx="4076700" cy="499766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of the agents </a:t>
            </a:r>
          </a:p>
        </p:txBody>
      </p:sp>
    </p:spTree>
    <p:extLst>
      <p:ext uri="{BB962C8B-B14F-4D97-AF65-F5344CB8AC3E}">
        <p14:creationId xmlns:p14="http://schemas.microsoft.com/office/powerpoint/2010/main" val="3596342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EBB122-B92A-6212-9621-F96016DC6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016" y="1"/>
            <a:ext cx="10027984" cy="6381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55EAC3-934B-0F2A-4465-107C8F333529}"/>
              </a:ext>
            </a:extLst>
          </p:cNvPr>
          <p:cNvSpPr txBox="1"/>
          <p:nvPr/>
        </p:nvSpPr>
        <p:spPr>
          <a:xfrm>
            <a:off x="76200" y="2867025"/>
            <a:ext cx="2087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do we analyze </a:t>
            </a:r>
          </a:p>
          <a:p>
            <a:r>
              <a:rPr lang="en-US" dirty="0"/>
              <a:t>User from history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928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3154F1-BD04-67FA-5BDB-C0AAB488D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357" y="0"/>
            <a:ext cx="9537979" cy="635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329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25BAA9-67B9-6D41-48CB-19300494B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fa-IR" dirty="0"/>
              <a:t>مزیت رقابتی</a:t>
            </a:r>
            <a:endParaRPr lang="en-US" dirty="0"/>
          </a:p>
        </p:txBody>
      </p:sp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A6B369B9-6E68-C8EC-6FD1-A48609B566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6202994"/>
              </p:ext>
            </p:extLst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7630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312337E-CAC6-475A-8738-1B4DB9D3E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013" y="0"/>
            <a:ext cx="4924891" cy="63703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2E138D3-89BF-6707-B491-1F24AC710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07" y="1224280"/>
            <a:ext cx="5042263" cy="39217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629307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{C760A250-1605-4CCA-AB45-A6E067AB26C7}TFf0a5ceae-4542-492d-822e-d65a94fb0e1e3b562c5a_win32-009a0557e699</Template>
  <TotalTime>3259</TotalTime>
  <Words>323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B Nazanin</vt:lpstr>
      <vt:lpstr>B Titr</vt:lpstr>
      <vt:lpstr>Bookman Old Style</vt:lpstr>
      <vt:lpstr>Calibri</vt:lpstr>
      <vt:lpstr>Franklin Gothic Book</vt:lpstr>
      <vt:lpstr>Segoe WPC</vt:lpstr>
      <vt:lpstr>Times New Roman</vt:lpstr>
      <vt:lpstr>Custom</vt:lpstr>
      <vt:lpstr>Ravansad  cost estimation</vt:lpstr>
      <vt:lpstr>PowerPoint Presentation</vt:lpstr>
      <vt:lpstr>PowerPoint Presentation</vt:lpstr>
      <vt:lpstr>PowerPoint Presentation</vt:lpstr>
      <vt:lpstr>PowerPoint Presentation</vt:lpstr>
      <vt:lpstr>Income estimation</vt:lpstr>
      <vt:lpstr>Software architecture</vt:lpstr>
      <vt:lpstr>PowerPoint Presentation</vt:lpstr>
      <vt:lpstr>Workflow of the agents </vt:lpstr>
      <vt:lpstr>PowerPoint Presentation</vt:lpstr>
      <vt:lpstr>PowerPoint Presentation</vt:lpstr>
      <vt:lpstr>مزیت رقابتی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Esi Mash</dc:creator>
  <cp:lastModifiedBy>Ryan</cp:lastModifiedBy>
  <cp:revision>49</cp:revision>
  <dcterms:created xsi:type="dcterms:W3CDTF">2026-05-29T18:36:11Z</dcterms:created>
  <dcterms:modified xsi:type="dcterms:W3CDTF">2026-07-09T16:06:46Z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